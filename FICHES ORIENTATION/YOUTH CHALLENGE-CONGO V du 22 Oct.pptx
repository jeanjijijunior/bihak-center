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3" r:id="rId5"/>
    <p:sldId id="265" r:id="rId6"/>
    <p:sldId id="258" r:id="rId7"/>
    <p:sldId id="262" r:id="rId8"/>
    <p:sldId id="264" r:id="rId9"/>
    <p:sldId id="266" r:id="rId10"/>
    <p:sldId id="260" r:id="rId11"/>
    <p:sldId id="267" r:id="rId12"/>
    <p:sldId id="261" r:id="rId13"/>
    <p:sldId id="268" r:id="rId1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E33"/>
    <a:srgbClr val="EB6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A607F1-FBE9-48CE-B54E-5643F8731412}" v="769" dt="2020-02-20T00:51:03.2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Junior Niyonkuru" userId="bf37ad57-adb8-4656-a154-b4f1eed3c441" providerId="ADAL" clId="{73A607F1-FBE9-48CE-B54E-5643F8731412}"/>
    <pc:docChg chg="undo custSel delSld modSld">
      <pc:chgData name="Jean Junior Niyonkuru" userId="bf37ad57-adb8-4656-a154-b4f1eed3c441" providerId="ADAL" clId="{73A607F1-FBE9-48CE-B54E-5643F8731412}" dt="2020-02-20T00:51:03.226" v="768" actId="2696"/>
      <pc:docMkLst>
        <pc:docMk/>
      </pc:docMkLst>
      <pc:sldChg chg="modSp">
        <pc:chgData name="Jean Junior Niyonkuru" userId="bf37ad57-adb8-4656-a154-b4f1eed3c441" providerId="ADAL" clId="{73A607F1-FBE9-48CE-B54E-5643F8731412}" dt="2020-02-20T00:23:17.669" v="0" actId="108"/>
        <pc:sldMkLst>
          <pc:docMk/>
          <pc:sldMk cId="1616042486" sldId="257"/>
        </pc:sldMkLst>
        <pc:spChg chg="mod">
          <ac:chgData name="Jean Junior Niyonkuru" userId="bf37ad57-adb8-4656-a154-b4f1eed3c441" providerId="ADAL" clId="{73A607F1-FBE9-48CE-B54E-5643F8731412}" dt="2020-02-20T00:23:17.669" v="0" actId="108"/>
          <ac:spMkLst>
            <pc:docMk/>
            <pc:sldMk cId="1616042486" sldId="257"/>
            <ac:spMk id="3" creationId="{40C26E63-E531-4434-9623-B75FC7A60413}"/>
          </ac:spMkLst>
        </pc:spChg>
      </pc:sldChg>
      <pc:sldChg chg="modSp">
        <pc:chgData name="Jean Junior Niyonkuru" userId="bf37ad57-adb8-4656-a154-b4f1eed3c441" providerId="ADAL" clId="{73A607F1-FBE9-48CE-B54E-5643F8731412}" dt="2020-02-20T00:30:55.095" v="70" actId="6549"/>
        <pc:sldMkLst>
          <pc:docMk/>
          <pc:sldMk cId="248988921" sldId="258"/>
        </pc:sldMkLst>
        <pc:spChg chg="mod">
          <ac:chgData name="Jean Junior Niyonkuru" userId="bf37ad57-adb8-4656-a154-b4f1eed3c441" providerId="ADAL" clId="{73A607F1-FBE9-48CE-B54E-5643F8731412}" dt="2020-02-20T00:30:55.095" v="70" actId="6549"/>
          <ac:spMkLst>
            <pc:docMk/>
            <pc:sldMk cId="248988921" sldId="258"/>
            <ac:spMk id="3" creationId="{CAB1E79E-9537-4FF1-9885-21CBF0C1C730}"/>
          </ac:spMkLst>
        </pc:spChg>
      </pc:sldChg>
      <pc:sldChg chg="modSp">
        <pc:chgData name="Jean Junior Niyonkuru" userId="bf37ad57-adb8-4656-a154-b4f1eed3c441" providerId="ADAL" clId="{73A607F1-FBE9-48CE-B54E-5643F8731412}" dt="2020-02-20T00:24:01.030" v="4" actId="20577"/>
        <pc:sldMkLst>
          <pc:docMk/>
          <pc:sldMk cId="3184119791" sldId="259"/>
        </pc:sldMkLst>
        <pc:spChg chg="mod">
          <ac:chgData name="Jean Junior Niyonkuru" userId="bf37ad57-adb8-4656-a154-b4f1eed3c441" providerId="ADAL" clId="{73A607F1-FBE9-48CE-B54E-5643F8731412}" dt="2020-02-20T00:24:01.030" v="4" actId="20577"/>
          <ac:spMkLst>
            <pc:docMk/>
            <pc:sldMk cId="3184119791" sldId="259"/>
            <ac:spMk id="3" creationId="{F6B44BC0-D9E6-4233-A875-A19E9B9E0928}"/>
          </ac:spMkLst>
        </pc:spChg>
      </pc:sldChg>
      <pc:sldChg chg="modSp">
        <pc:chgData name="Jean Junior Niyonkuru" userId="bf37ad57-adb8-4656-a154-b4f1eed3c441" providerId="ADAL" clId="{73A607F1-FBE9-48CE-B54E-5643F8731412}" dt="2020-02-20T00:50:44.953" v="767" actId="20577"/>
        <pc:sldMkLst>
          <pc:docMk/>
          <pc:sldMk cId="1555236004" sldId="261"/>
        </pc:sldMkLst>
        <pc:spChg chg="mod">
          <ac:chgData name="Jean Junior Niyonkuru" userId="bf37ad57-adb8-4656-a154-b4f1eed3c441" providerId="ADAL" clId="{73A607F1-FBE9-48CE-B54E-5643F8731412}" dt="2020-02-20T00:50:44.953" v="767" actId="20577"/>
          <ac:spMkLst>
            <pc:docMk/>
            <pc:sldMk cId="1555236004" sldId="261"/>
            <ac:spMk id="2" creationId="{E0D7F35D-C6A5-4025-9AEC-18E2CE67721A}"/>
          </ac:spMkLst>
        </pc:spChg>
        <pc:graphicFrameChg chg="mod modGraphic">
          <ac:chgData name="Jean Junior Niyonkuru" userId="bf37ad57-adb8-4656-a154-b4f1eed3c441" providerId="ADAL" clId="{73A607F1-FBE9-48CE-B54E-5643F8731412}" dt="2020-02-20T00:50:25.519" v="764" actId="14100"/>
          <ac:graphicFrameMkLst>
            <pc:docMk/>
            <pc:sldMk cId="1555236004" sldId="261"/>
            <ac:graphicFrameMk id="8" creationId="{78F5A302-6CDB-4527-9790-AE2A46A6A246}"/>
          </ac:graphicFrameMkLst>
        </pc:graphicFrameChg>
      </pc:sldChg>
      <pc:sldChg chg="modSp">
        <pc:chgData name="Jean Junior Niyonkuru" userId="bf37ad57-adb8-4656-a154-b4f1eed3c441" providerId="ADAL" clId="{73A607F1-FBE9-48CE-B54E-5643F8731412}" dt="2020-02-20T00:35:39.649" v="176" actId="20577"/>
        <pc:sldMkLst>
          <pc:docMk/>
          <pc:sldMk cId="3141203636" sldId="262"/>
        </pc:sldMkLst>
        <pc:spChg chg="mod">
          <ac:chgData name="Jean Junior Niyonkuru" userId="bf37ad57-adb8-4656-a154-b4f1eed3c441" providerId="ADAL" clId="{73A607F1-FBE9-48CE-B54E-5643F8731412}" dt="2020-02-20T00:31:49.240" v="72" actId="20577"/>
          <ac:spMkLst>
            <pc:docMk/>
            <pc:sldMk cId="3141203636" sldId="262"/>
            <ac:spMk id="2" creationId="{4E609681-CA93-4C98-8F3D-4B245DBC7D00}"/>
          </ac:spMkLst>
        </pc:spChg>
        <pc:spChg chg="mod">
          <ac:chgData name="Jean Junior Niyonkuru" userId="bf37ad57-adb8-4656-a154-b4f1eed3c441" providerId="ADAL" clId="{73A607F1-FBE9-48CE-B54E-5643F8731412}" dt="2020-02-20T00:35:39.649" v="176" actId="20577"/>
          <ac:spMkLst>
            <pc:docMk/>
            <pc:sldMk cId="3141203636" sldId="262"/>
            <ac:spMk id="3" creationId="{FF704555-763E-468A-A1DB-94A8A44040C6}"/>
          </ac:spMkLst>
        </pc:spChg>
      </pc:sldChg>
      <pc:sldChg chg="modSp">
        <pc:chgData name="Jean Junior Niyonkuru" userId="bf37ad57-adb8-4656-a154-b4f1eed3c441" providerId="ADAL" clId="{73A607F1-FBE9-48CE-B54E-5643F8731412}" dt="2020-02-20T00:29:12.958" v="50" actId="20577"/>
        <pc:sldMkLst>
          <pc:docMk/>
          <pc:sldMk cId="774152820" sldId="263"/>
        </pc:sldMkLst>
        <pc:spChg chg="mod">
          <ac:chgData name="Jean Junior Niyonkuru" userId="bf37ad57-adb8-4656-a154-b4f1eed3c441" providerId="ADAL" clId="{73A607F1-FBE9-48CE-B54E-5643F8731412}" dt="2020-02-20T00:29:12.958" v="50" actId="20577"/>
          <ac:spMkLst>
            <pc:docMk/>
            <pc:sldMk cId="774152820" sldId="263"/>
            <ac:spMk id="3" creationId="{9305F160-5E2D-4F0F-8AAA-397C69CD6D9C}"/>
          </ac:spMkLst>
        </pc:spChg>
      </pc:sldChg>
      <pc:sldChg chg="modSp">
        <pc:chgData name="Jean Junior Niyonkuru" userId="bf37ad57-adb8-4656-a154-b4f1eed3c441" providerId="ADAL" clId="{73A607F1-FBE9-48CE-B54E-5643F8731412}" dt="2020-02-20T00:40:44.476" v="400" actId="20577"/>
        <pc:sldMkLst>
          <pc:docMk/>
          <pc:sldMk cId="3222679823" sldId="264"/>
        </pc:sldMkLst>
        <pc:spChg chg="mod">
          <ac:chgData name="Jean Junior Niyonkuru" userId="bf37ad57-adb8-4656-a154-b4f1eed3c441" providerId="ADAL" clId="{73A607F1-FBE9-48CE-B54E-5643F8731412}" dt="2020-02-20T00:31:55.632" v="76" actId="20577"/>
          <ac:spMkLst>
            <pc:docMk/>
            <pc:sldMk cId="3222679823" sldId="264"/>
            <ac:spMk id="2" creationId="{A1A12F0E-0637-4375-8EAD-7FA9549DAFF6}"/>
          </ac:spMkLst>
        </pc:spChg>
        <pc:spChg chg="mod">
          <ac:chgData name="Jean Junior Niyonkuru" userId="bf37ad57-adb8-4656-a154-b4f1eed3c441" providerId="ADAL" clId="{73A607F1-FBE9-48CE-B54E-5643F8731412}" dt="2020-02-20T00:40:44.476" v="400" actId="20577"/>
          <ac:spMkLst>
            <pc:docMk/>
            <pc:sldMk cId="3222679823" sldId="264"/>
            <ac:spMk id="3" creationId="{C2B3AED4-DADB-479D-B7ED-039E4686D758}"/>
          </ac:spMkLst>
        </pc:spChg>
      </pc:sldChg>
      <pc:sldChg chg="modSp">
        <pc:chgData name="Jean Junior Niyonkuru" userId="bf37ad57-adb8-4656-a154-b4f1eed3c441" providerId="ADAL" clId="{73A607F1-FBE9-48CE-B54E-5643F8731412}" dt="2020-02-20T00:43:48.529" v="509" actId="167"/>
        <pc:sldMkLst>
          <pc:docMk/>
          <pc:sldMk cId="3512916346" sldId="266"/>
        </pc:sldMkLst>
        <pc:spChg chg="mod">
          <ac:chgData name="Jean Junior Niyonkuru" userId="bf37ad57-adb8-4656-a154-b4f1eed3c441" providerId="ADAL" clId="{73A607F1-FBE9-48CE-B54E-5643F8731412}" dt="2020-02-20T00:43:37.385" v="507" actId="27636"/>
          <ac:spMkLst>
            <pc:docMk/>
            <pc:sldMk cId="3512916346" sldId="266"/>
            <ac:spMk id="3" creationId="{A06F2253-399B-4731-A8FE-9D98D52137CD}"/>
          </ac:spMkLst>
        </pc:spChg>
        <pc:picChg chg="mod ord">
          <ac:chgData name="Jean Junior Niyonkuru" userId="bf37ad57-adb8-4656-a154-b4f1eed3c441" providerId="ADAL" clId="{73A607F1-FBE9-48CE-B54E-5643F8731412}" dt="2020-02-20T00:43:48.529" v="509" actId="167"/>
          <ac:picMkLst>
            <pc:docMk/>
            <pc:sldMk cId="3512916346" sldId="266"/>
            <ac:picMk id="9" creationId="{3F888FDC-AFFC-4209-96AF-3F1B376EF971}"/>
          </ac:picMkLst>
        </pc:picChg>
      </pc:sldChg>
      <pc:sldChg chg="del">
        <pc:chgData name="Jean Junior Niyonkuru" userId="bf37ad57-adb8-4656-a154-b4f1eed3c441" providerId="ADAL" clId="{73A607F1-FBE9-48CE-B54E-5643F8731412}" dt="2020-02-20T00:51:03.226" v="768" actId="2696"/>
        <pc:sldMkLst>
          <pc:docMk/>
          <pc:sldMk cId="1016390514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25B49-CF69-43FB-978B-A5D059A776B1}" type="datetimeFigureOut">
              <a:rPr lang="fr-FR" smtClean="0"/>
              <a:t>20/02/2020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73575"/>
            <a:ext cx="55054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6AD9F-C105-4D36-9284-EC30F9DC4D0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36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AE94-109F-49EA-BD3A-A301D2C9A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2F220-B284-4BC7-846D-7FA5E0450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A61DB-6F91-4672-84C9-2FCBAE22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9DD4-247D-45D6-B9DC-13AFFDA50C76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1354-169D-4A72-80BA-10E6E62A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553C-EC79-4780-9B5F-29D0B8B0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4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7776-5885-406F-9A36-42FCC34A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B3D56-B9E3-4FEE-80D8-BAE34BB5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EBE60-3BA3-4DA4-8796-CBB3DB25E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1C6CB-7A3F-440F-B605-9F55EB2F45F0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DD6F0-A5A1-429C-9706-071D1F05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3FB4D-038A-445C-BA29-1632BF7B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6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28FC-1150-42A6-9169-4FCD527B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1EA88-4ABC-46FE-ACF5-D62622F9E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DCFE9-6565-4D0A-99E2-24B482D6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7AFC-A8EB-4A90-9197-C2C436DB0B57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9F645-FD6A-407E-972D-E9A88062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07D92-9F6B-4EF9-909D-F226BEE7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57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D73F-8CE3-4707-9E9C-ABC921ED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EAF14-D10F-43F6-97BE-108E81746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442E8-0601-4E51-ADAF-9A66CB2C5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4CBC9-21FF-4C3D-BFF9-78441BFE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F8214-783D-4F2D-94FF-141F33F59166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D2615-B2BB-4DFC-AE68-E5A0305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70540-E0C7-4B34-810E-56693F7A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83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D602-95AF-4F63-B81F-0E8341C6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30981-AA26-4FBF-BEDC-9434BE869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A0EDF-DCEC-4C02-BB43-0434F307E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D3918-04CC-4F35-84A2-3E7ABEEC3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6BDEE-A151-4330-97E4-8FC85EBD5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042C51-713E-4100-A421-2789FF64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8072-B7D0-4146-BE7D-848A6E24C293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7A0E2A-7C57-4491-A6B8-5C800A58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C08FC-BF23-4411-8358-091AD849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50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D7F6-FF62-41BE-8CCE-3DEE5BF7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43722-763D-40A9-9A77-B639BA48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6195-770A-49ED-A050-8B8630CBE1A2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D646-FBEB-4C65-BA25-4BDC5B57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FADC6-E541-4E0E-B5B5-B6AB14D4A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9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8ACB5-C2C9-4B51-A77D-10A3FD97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892A9-DD62-493A-A9DD-472EB52D1ECA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49498-CC24-4356-8823-C75A39CA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A6A19-4D85-4E35-929D-9F5B52A0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15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DBAE-D667-4C87-BC64-066C90D63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DBBD9-2D45-422F-A9B5-1ED7DE015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21EED-4D00-48B4-B136-1F659A677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7A0CD-4CEE-4596-A8DB-EBCCB8FD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E308-553E-4E91-B330-E27AA520AC57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FBA11-522B-45BA-B46F-83669770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FC98C-734C-4AD3-A85B-7A613EC4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18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3262-BD62-4487-B045-B24FEA51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0BF3B-EED5-4765-8F03-AAC8EE71D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5D0E8-024F-4A5F-B884-CECED7150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27903-789E-4C1A-8DAE-11A8D317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669D-469A-4D6D-880C-824E2A80A567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0EFAF-5D26-48E2-8F20-8930C8735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DAD1F-93FD-4582-8DB6-79389010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3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35012-896E-4B43-8694-1B9D2641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0AF60-AF97-4021-9B05-CBB2CCD20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2E02E-48AA-480F-9037-519D64CE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D566-C74A-4AC8-834D-9BFCBD2E2BAF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1004C-9B43-4ECD-8383-A9D8AEC9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6916F-EDE2-4684-BF19-506D4E7B7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23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CC366-1665-45C6-A7E6-4AEDA2396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2F69E-9D49-4A45-925D-8F44F7B6D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FF44A-FB4F-416B-9FDE-536284E9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0321-7C2F-4E69-B5C5-1BE4FC3A5CCA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11B28-BEB6-41B4-A641-D7000B66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13EAA-4ECC-4A6A-95B5-E324D54F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80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0DB69-2E9A-4D44-9D5A-01169AD4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C2799-A58F-4C0B-8FB7-C4DA82085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3DCBB-9636-45EC-B796-62FF0D38F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08B94-6966-4239-B8CE-A58091A5C02D}" type="datetime1">
              <a:rPr lang="en-US" smtClean="0"/>
              <a:t>2/20/2020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6C77-ACC8-42E4-A824-0132ECD85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7D185-4075-488C-AC8C-05A9781AD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1934C-5B33-4B0D-88E3-803271ED85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81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F644-9EF3-455F-9521-EA1B6A7A3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5070" y="2370337"/>
            <a:ext cx="4645250" cy="1847267"/>
          </a:xfrm>
        </p:spPr>
        <p:txBody>
          <a:bodyPr anchor="b">
            <a:normAutofit/>
          </a:bodyPr>
          <a:lstStyle/>
          <a:p>
            <a:r>
              <a:rPr lang="en-US" sz="6000" b="1" dirty="0"/>
              <a:t>YOUTH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9A7A5-0EF7-4182-9F39-FD7BA1646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7089" y="5318435"/>
            <a:ext cx="6825672" cy="1147863"/>
          </a:xfrm>
        </p:spPr>
        <p:txBody>
          <a:bodyPr anchor="t">
            <a:normAutofit fontScale="77500" lnSpcReduction="20000"/>
          </a:bodyPr>
          <a:lstStyle/>
          <a:p>
            <a:pPr algn="l"/>
            <a:r>
              <a:rPr lang="en-US" sz="6000" b="1" dirty="0"/>
              <a:t>GENERATION</a:t>
            </a:r>
            <a:r>
              <a:rPr lang="en-US" sz="2000" b="1" dirty="0"/>
              <a:t> </a:t>
            </a:r>
            <a:r>
              <a:rPr lang="en-US" sz="6000" b="1" dirty="0"/>
              <a:t>SANS</a:t>
            </a:r>
            <a:r>
              <a:rPr lang="en-US" sz="2000" b="1" dirty="0"/>
              <a:t> </a:t>
            </a:r>
            <a:r>
              <a:rPr lang="en-US" sz="6000" b="1" dirty="0"/>
              <a:t>LIMITE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group of people looking at a computer&#10;&#10;Description generated with very high confidence">
            <a:extLst>
              <a:ext uri="{FF2B5EF4-FFF2-40B4-BE49-F238E27FC236}">
                <a16:creationId xmlns:a16="http://schemas.microsoft.com/office/drawing/2014/main" id="{B3F0BFE1-AAB2-4241-92CE-6DD16200A5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0" r="27698" b="2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2D1251-E968-41ED-926C-71938D79F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253" y="0"/>
            <a:ext cx="1651747" cy="159944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F3FF71-F75B-4E77-B56F-42CDAA8C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934C-5B33-4B0D-88E3-803271ED855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426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FDE1-759B-42C5-8D43-2814112D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20675"/>
            <a:ext cx="10585704" cy="1325563"/>
          </a:xfrm>
          <a:ln w="57150">
            <a:solidFill>
              <a:srgbClr val="ED7E33"/>
            </a:solidFill>
          </a:ln>
        </p:spPr>
        <p:txBody>
          <a:bodyPr/>
          <a:lstStyle/>
          <a:p>
            <a:pPr algn="ctr"/>
            <a:r>
              <a:rPr lang="en-US" b="1" dirty="0" err="1">
                <a:solidFill>
                  <a:srgbClr val="00B0F0"/>
                </a:solidFill>
              </a:rPr>
              <a:t>Qu’est</a:t>
            </a:r>
            <a:r>
              <a:rPr lang="en-US" b="1" dirty="0">
                <a:solidFill>
                  <a:srgbClr val="00B0F0"/>
                </a:solidFill>
              </a:rPr>
              <a:t>-</a:t>
            </a:r>
            <a:r>
              <a:rPr lang="en-US" b="1" dirty="0" err="1">
                <a:solidFill>
                  <a:srgbClr val="00B0F0"/>
                </a:solidFill>
              </a:rPr>
              <a:t>ce</a:t>
            </a:r>
            <a:r>
              <a:rPr lang="en-US" b="1" dirty="0">
                <a:solidFill>
                  <a:srgbClr val="00B0F0"/>
                </a:solidFill>
              </a:rPr>
              <a:t>-que </a:t>
            </a:r>
            <a:r>
              <a:rPr lang="fr-FR" b="1" dirty="0">
                <a:solidFill>
                  <a:srgbClr val="00B0F0"/>
                </a:solidFill>
              </a:rPr>
              <a:t>Génération</a:t>
            </a:r>
            <a:r>
              <a:rPr lang="en-US" b="1" dirty="0">
                <a:solidFill>
                  <a:srgbClr val="00B0F0"/>
                </a:solidFill>
              </a:rPr>
              <a:t> Sans </a:t>
            </a:r>
            <a:r>
              <a:rPr lang="en-US" b="1" dirty="0" err="1">
                <a:solidFill>
                  <a:srgbClr val="00B0F0"/>
                </a:solidFill>
              </a:rPr>
              <a:t>Limite</a:t>
            </a:r>
            <a:r>
              <a:rPr lang="en-US" b="1" dirty="0">
                <a:solidFill>
                  <a:srgbClr val="00B0F0"/>
                </a:solidFill>
              </a:rPr>
              <a:t>? (Generation Unlimited)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26E63-E531-4434-9623-B75FC7A60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La Génération Sans Limite (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GenU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) est un partenariat mondial visant à préparer les jeunes à devenir des citoyens productifs et engagés. </a:t>
            </a:r>
          </a:p>
          <a:p>
            <a:pPr>
              <a:lnSpc>
                <a:spcPct val="150000"/>
              </a:lnSpc>
            </a:pP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GenU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établit un lien entre l’éducation et la formation d’âge secondaire et l’emploi et l’esprit d’entreprise, permettant ainsi à chaque jeune de s’épanouir dans le monde du travail.</a:t>
            </a:r>
          </a:p>
          <a:p>
            <a:pPr>
              <a:lnSpc>
                <a:spcPct val="150000"/>
              </a:lnSpc>
            </a:pP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GenU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réunit les jeunes, le secteur privé, les gouvernements, les organisations multilatérales, le secteur privé et de la société civile pour relever ce défi urgent.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989E0-1863-4FBE-94AE-E2D6DD7E9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96997AC-1E2E-4F33-B38F-A66CCA15D8D8}"/>
              </a:ext>
            </a:extLst>
          </p:cNvPr>
          <p:cNvSpPr txBox="1">
            <a:spLocks/>
          </p:cNvSpPr>
          <p:nvPr/>
        </p:nvSpPr>
        <p:spPr>
          <a:xfrm>
            <a:off x="9320073" y="63843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D1934C-5B33-4B0D-88E3-803271ED855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04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FB6B-DAF7-49E4-8D57-97164CD94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70" y="365126"/>
            <a:ext cx="10705730" cy="957648"/>
          </a:xfrm>
          <a:ln w="57150">
            <a:solidFill>
              <a:schemeClr val="accent2"/>
            </a:solidFill>
          </a:ln>
        </p:spPr>
        <p:txBody>
          <a:bodyPr/>
          <a:lstStyle/>
          <a:p>
            <a:pPr algn="ctr"/>
            <a:r>
              <a:rPr lang="fr-FR" b="1">
                <a:solidFill>
                  <a:srgbClr val="00B0F0"/>
                </a:solidFill>
              </a:rPr>
              <a:t>Objectifs</a:t>
            </a:r>
            <a:r>
              <a:rPr lang="en-US" b="1">
                <a:solidFill>
                  <a:srgbClr val="00B0F0"/>
                </a:solidFill>
              </a:rPr>
              <a:t> </a:t>
            </a:r>
            <a:r>
              <a:rPr lang="fr-FR" b="1">
                <a:solidFill>
                  <a:srgbClr val="00B0F0"/>
                </a:solidFill>
              </a:rPr>
              <a:t>stratégiques</a:t>
            </a:r>
            <a:r>
              <a:rPr lang="en-US" b="1">
                <a:solidFill>
                  <a:srgbClr val="00B0F0"/>
                </a:solidFill>
              </a:rPr>
              <a:t> du GenU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4BC0-D9E6-4233-A875-A19E9B9E0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95" y="1562470"/>
            <a:ext cx="11088210" cy="4561855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Clr>
                <a:srgbClr val="E68042"/>
              </a:buClr>
              <a:buFont typeface="+mj-lt"/>
              <a:buAutoNum type="arabicPeriod"/>
            </a:pPr>
            <a:r>
              <a:rPr lang="fr-FR" sz="2300" b="1" dirty="0">
                <a:latin typeface="Arial" panose="020B0604020202020204" pitchFamily="34" charset="0"/>
                <a:cs typeface="Arial" panose="020B0604020202020204" pitchFamily="34" charset="0"/>
              </a:rPr>
              <a:t>Éducation et formation: 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Transformer l'expérience scolaire formelle pour développer les compétences des jeunes. 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Donner aux jeunes en dehors de l'école formelle des opportunités pour la formation, le développement des compétences et l'éducation supplémentaire</a:t>
            </a:r>
          </a:p>
          <a:p>
            <a:pPr>
              <a:lnSpc>
                <a:spcPct val="100000"/>
              </a:lnSpc>
            </a:pPr>
            <a:r>
              <a:rPr lang="fr-FR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fr-FR" sz="2300" b="1" dirty="0">
                <a:latin typeface="Arial" panose="020B0604020202020204" pitchFamily="34" charset="0"/>
                <a:cs typeface="Arial" panose="020B0604020202020204" pitchFamily="34" charset="0"/>
              </a:rPr>
              <a:t>Emploi : 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Améliorer les liens entre les jeunes et les opportunités de travail existantes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et disponibles pour eux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Augmenter le nombre d'opportunités de travail de qualité disponibles 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aux jeunes</a:t>
            </a:r>
          </a:p>
          <a:p>
            <a:pPr marL="0" indent="0">
              <a:lnSpc>
                <a:spcPct val="150000"/>
              </a:lnSpc>
              <a:buClr>
                <a:srgbClr val="E68042"/>
              </a:buClr>
              <a:buNone/>
            </a:pPr>
            <a:endParaRPr lang="fr-FR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B5A4153F-35CF-4461-B7ED-7F7995BE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8823" y="6384380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2CD7A4-0B0D-4463-A7A7-839A9333F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1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9AAF-0803-4027-BB5A-89E18855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04" y="381376"/>
            <a:ext cx="10515600" cy="940217"/>
          </a:xfrm>
          <a:ln w="57150">
            <a:solidFill>
              <a:schemeClr val="accent2"/>
            </a:solidFill>
          </a:ln>
        </p:spPr>
        <p:txBody>
          <a:bodyPr/>
          <a:lstStyle/>
          <a:p>
            <a:pPr algn="ctr"/>
            <a:r>
              <a:rPr lang="fr-FR" b="1">
                <a:solidFill>
                  <a:srgbClr val="00B0F0"/>
                </a:solidFill>
              </a:rPr>
              <a:t>Objectifs</a:t>
            </a:r>
            <a:r>
              <a:rPr lang="en-US" b="1">
                <a:solidFill>
                  <a:srgbClr val="00B0F0"/>
                </a:solidFill>
              </a:rPr>
              <a:t> </a:t>
            </a:r>
            <a:r>
              <a:rPr lang="fr-FR" b="1">
                <a:solidFill>
                  <a:srgbClr val="00B0F0"/>
                </a:solidFill>
              </a:rPr>
              <a:t>stratégiques</a:t>
            </a:r>
            <a:r>
              <a:rPr lang="en-US" b="1">
                <a:solidFill>
                  <a:srgbClr val="00B0F0"/>
                </a:solidFill>
              </a:rPr>
              <a:t> du GenU (suite)</a:t>
            </a:r>
            <a:endParaRPr lang="fr-FR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5F160-5E2D-4F0F-8AAA-397C69CD6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60" y="165517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2"/>
              </a:buClr>
              <a:buNone/>
            </a:pPr>
            <a:r>
              <a:rPr lang="fr-FR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fr-FR" sz="2300" b="1" dirty="0">
                <a:latin typeface="Arial" panose="020B0604020202020204" pitchFamily="34" charset="0"/>
                <a:cs typeface="Arial" panose="020B0604020202020204" pitchFamily="34" charset="0"/>
              </a:rPr>
              <a:t>Entrepreneuriat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:Encourager l'entrepreneuriat en tant qu'esprit et moyen de subsistance </a:t>
            </a:r>
          </a:p>
          <a:p>
            <a:pPr marL="0" indent="0">
              <a:lnSpc>
                <a:spcPct val="150000"/>
              </a:lnSpc>
              <a:buClr>
                <a:schemeClr val="accent2"/>
              </a:buClr>
              <a:buNone/>
            </a:pPr>
            <a:r>
              <a:rPr lang="fr-FR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fr-F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Equité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 et engagement: 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Promouvoir un accès équitable à l’éducation, la formation, l’emploi, l'esprit d'entreprise et l’engagement civique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Équiper les jeunes en tant qu’agents de changement et membres engagés de la société qui contribuent à créer un monde meilleur</a:t>
            </a:r>
          </a:p>
          <a:p>
            <a:pPr>
              <a:lnSpc>
                <a:spcPct val="150000"/>
              </a:lnSpc>
            </a:pPr>
            <a:endParaRPr lang="fr-FR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4EDEE-1BC1-4848-A61B-C7D8B8F9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3515" y="6381377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CB135A-6429-4EE2-8584-933839E3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5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C25268-32FC-46D9-8BE5-C7F4E61AC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271" y="1"/>
            <a:ext cx="1986995" cy="192407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41929-B713-4219-A3D5-2BA921E2D12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91449" y="5015883"/>
            <a:ext cx="9388135" cy="1278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 vous remercie!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0CF0BA-7EB2-4F4E-B148-1C6D3CF2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0888" y="6446120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95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8924-B172-4206-9A0A-C60AEE4E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259" y="310353"/>
            <a:ext cx="9871229" cy="1122211"/>
          </a:xfrm>
          <a:ln w="57150">
            <a:solidFill>
              <a:srgbClr val="ED7E33"/>
            </a:solidFill>
          </a:ln>
        </p:spPr>
        <p:txBody>
          <a:bodyPr/>
          <a:lstStyle/>
          <a:p>
            <a:pPr algn="ctr"/>
            <a:r>
              <a:rPr lang="en-US" b="1" dirty="0" err="1">
                <a:solidFill>
                  <a:srgbClr val="00B0F0"/>
                </a:solidFill>
              </a:rPr>
              <a:t>C’est</a:t>
            </a:r>
            <a:r>
              <a:rPr lang="en-US" b="1" dirty="0">
                <a:solidFill>
                  <a:srgbClr val="00B0F0"/>
                </a:solidFill>
              </a:rPr>
              <a:t> quoi le Youth Challenge?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E79E-9537-4FF1-9885-21CBF0C1C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259" y="163520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EB6E19"/>
              </a:buClr>
              <a:buFont typeface="Wingdings" panose="05000000000000000000" pitchFamily="2" charset="2"/>
              <a:buChar char="q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Youth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Challenge ou défi pour les jeunes  est une initiative qui appelle les jeunes innovateurs à concevoir des solutions pour améliorer l'éducation, l'emploi et l'engagement civique.</a:t>
            </a:r>
          </a:p>
          <a:p>
            <a:pPr>
              <a:lnSpc>
                <a:spcPct val="150000"/>
              </a:lnSpc>
              <a:buClr>
                <a:srgbClr val="EB6E19"/>
              </a:buClr>
              <a:buFont typeface="Wingdings" panose="05000000000000000000" pitchFamily="2" charset="2"/>
              <a:buChar char="q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Il vise à inspirer les jeunes avec des idées brillantes, mais qui n’ont pas de ressources pour les concrétiser. </a:t>
            </a:r>
          </a:p>
          <a:p>
            <a:pPr>
              <a:lnSpc>
                <a:spcPct val="150000"/>
              </a:lnSpc>
              <a:buClr>
                <a:srgbClr val="EB6E19"/>
              </a:buClr>
              <a:buFont typeface="Wingdings" panose="05000000000000000000" pitchFamily="2" charset="2"/>
              <a:buChar char="q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Cela inclut les jeunes réfugiés, ceux qui font face à une discrimination quotidienne en raison de leur appartenance ethnique, de leur sexe ou de leur handicap </a:t>
            </a:r>
            <a:b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et ceux qui sont désavantagés par la pauvreté.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8AC345-0C0D-4D7C-A714-964AC570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0050" y="6388525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1B8646-847E-4BA0-BBF7-47F5F9144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09681-CA93-4C98-8F3D-4B245DBC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357" y="365126"/>
            <a:ext cx="10581443" cy="939892"/>
          </a:xfrm>
          <a:ln w="57150">
            <a:solidFill>
              <a:schemeClr val="accent2"/>
            </a:solidFill>
          </a:ln>
        </p:spPr>
        <p:txBody>
          <a:bodyPr/>
          <a:lstStyle/>
          <a:p>
            <a:r>
              <a:rPr lang="fr-FR" b="1" dirty="0">
                <a:solidFill>
                  <a:srgbClr val="00B0F0"/>
                </a:solidFill>
              </a:rPr>
              <a:t>Les objectifs du Youth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04555-763E-468A-A1DB-94A8A4404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636"/>
            <a:ext cx="10515600" cy="4745327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rgbClr val="EB6E19"/>
              </a:buClr>
              <a:buFont typeface="Wingdings" panose="05000000000000000000" pitchFamily="2" charset="2"/>
              <a:buChar char="Ø"/>
            </a:pPr>
            <a:r>
              <a:rPr lang="fr-FR" sz="2000" dirty="0"/>
              <a:t>Faire participer les jeunes de milieux plus défavorisés / marginalisés à la résolution de problèmes</a:t>
            </a:r>
          </a:p>
          <a:p>
            <a:pPr>
              <a:lnSpc>
                <a:spcPct val="170000"/>
              </a:lnSpc>
              <a:buClr>
                <a:srgbClr val="EB6E19"/>
              </a:buClr>
              <a:buFont typeface="Wingdings" panose="05000000000000000000" pitchFamily="2" charset="2"/>
              <a:buChar char="Ø"/>
            </a:pPr>
            <a:r>
              <a:rPr lang="fr-FR" sz="2000" dirty="0"/>
              <a:t>Générer des solutions et des entreprises dirigées par des jeunes au niveau local pouvant contribuer aux priorités stratégiques de Génération Sans Limites à l'échelle mondiale</a:t>
            </a:r>
          </a:p>
          <a:p>
            <a:pPr>
              <a:lnSpc>
                <a:spcPct val="170000"/>
              </a:lnSpc>
              <a:buClr>
                <a:srgbClr val="EB6E19"/>
              </a:buClr>
              <a:buFont typeface="Wingdings" panose="05000000000000000000" pitchFamily="2" charset="2"/>
              <a:buChar char="Ø"/>
            </a:pPr>
            <a:r>
              <a:rPr lang="fr-FR" sz="2000" dirty="0"/>
              <a:t>Présenter (sur la scène mondiale) les jeunes «solutionneurs» pour inspirer les autres, créant ainsi des jeunes modèles à partir de communautés défavorisées</a:t>
            </a:r>
          </a:p>
          <a:p>
            <a:pPr>
              <a:lnSpc>
                <a:spcPct val="170000"/>
              </a:lnSpc>
              <a:buClr>
                <a:srgbClr val="EB6E19"/>
              </a:buClr>
              <a:buFont typeface="Wingdings" panose="05000000000000000000" pitchFamily="2" charset="2"/>
              <a:buChar char="Ø"/>
            </a:pPr>
            <a:r>
              <a:rPr lang="fr-FR" sz="2000" dirty="0"/>
              <a:t>Développer les compétences, l'expérience et les réseaux de citoyenneté active, d'employabilité et d'entrepreneuriat pour les jeunes défavorisés</a:t>
            </a:r>
          </a:p>
          <a:p>
            <a:pPr>
              <a:lnSpc>
                <a:spcPct val="170000"/>
              </a:lnSpc>
            </a:pPr>
            <a:endParaRPr lang="fr-FR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1626D-DEC1-4ACE-9FD2-79C7C09A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8724" y="6383616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380B3-78F2-40D1-8AC1-135B1AD4B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03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2F0E-0637-4375-8EAD-7FA9549D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305733"/>
            <a:ext cx="10515600" cy="941610"/>
          </a:xfrm>
          <a:ln w="57150">
            <a:solidFill>
              <a:schemeClr val="accent2"/>
            </a:solidFill>
          </a:ln>
        </p:spPr>
        <p:txBody>
          <a:bodyPr/>
          <a:lstStyle/>
          <a:p>
            <a:r>
              <a:rPr lang="fr-FR" b="1" dirty="0">
                <a:solidFill>
                  <a:srgbClr val="00B0F0"/>
                </a:solidFill>
              </a:rPr>
              <a:t>Les objectifs du Youth Challenge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3AED4-DADB-479D-B7ED-039E4686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47" y="1438182"/>
            <a:ext cx="10661341" cy="4536489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rgbClr val="EB6E19"/>
              </a:buClr>
              <a:buFont typeface="Wingdings" panose="05000000000000000000" pitchFamily="2" charset="2"/>
              <a:buChar char="Ø"/>
            </a:pPr>
            <a:r>
              <a:rPr lang="fr-FR" sz="2500" dirty="0"/>
              <a:t>Soutenir et encourager les activités d'innovation dirigées par les jeunes</a:t>
            </a:r>
          </a:p>
          <a:p>
            <a:pPr>
              <a:lnSpc>
                <a:spcPct val="170000"/>
              </a:lnSpc>
              <a:buClr>
                <a:srgbClr val="EB6E19"/>
              </a:buClr>
              <a:buFont typeface="Wingdings" panose="05000000000000000000" pitchFamily="2" charset="2"/>
              <a:buChar char="Ø"/>
            </a:pPr>
            <a:r>
              <a:rPr lang="fr-FR" sz="2500" dirty="0"/>
              <a:t>Renforcer les capacités des jeunes innovateurs</a:t>
            </a:r>
          </a:p>
          <a:p>
            <a:pPr>
              <a:lnSpc>
                <a:spcPct val="170000"/>
              </a:lnSpc>
              <a:buClr>
                <a:srgbClr val="EB6E19"/>
              </a:buClr>
              <a:buFont typeface="Wingdings" panose="05000000000000000000" pitchFamily="2" charset="2"/>
              <a:buChar char="Ø"/>
            </a:pPr>
            <a:r>
              <a:rPr lang="fr-FR" sz="2500" dirty="0"/>
              <a:t>Soutenir de manière significative les jeunes a travers le réseau des partenaires de Génération Sans Limites</a:t>
            </a:r>
            <a:endParaRPr lang="fr-FR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86909-DC45-406C-8969-FA6E90EE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774" y="6394088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72E91F-0E8A-4501-AFE1-7C5008B1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79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888FDC-AFFC-4209-96AF-3F1B376EF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4462" y="5465315"/>
            <a:ext cx="1438228" cy="13926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00CFF2-3D36-4335-91D3-D7F799179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391056"/>
            <a:ext cx="10515600" cy="847979"/>
          </a:xfrm>
          <a:ln w="57150">
            <a:solidFill>
              <a:schemeClr val="accent2"/>
            </a:solidFill>
          </a:ln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Processus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2253-399B-4731-A8FE-9D98D5213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81" y="1443886"/>
            <a:ext cx="11615109" cy="520562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Lancement d’un appel à candidatures sera lancé dans  40 pays  ( dont le Congo)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Sélection des candidats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Participation des candidats retenus aux ateliers de conception. 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Sélection des cinq idées les plus prometteuses. Chaque idée retenue recevra 1 000 USD pour expérimenter le projet et aura un mentor pour accompagner la mise en œuvre des projets. 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Et,  en juin 2020, les solutions les plus prometteuses de chaque pays seront soumises à un autre processus de sélection au niveau global.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dirty="0"/>
              <a:t>Les projets sélectionnés au niveau global recevront un financement supplémentaire pouvant atteindre 20 000 USD,</a:t>
            </a:r>
            <a:br>
              <a:rPr lang="fr-FR" sz="2000" dirty="0"/>
            </a:br>
            <a:r>
              <a:rPr lang="fr-FR" sz="2000" dirty="0"/>
              <a:t>ainsi qu'un programme adapté d'incubation global de la part des partenaires de Génération </a:t>
            </a:r>
            <a:br>
              <a:rPr lang="fr-FR" sz="2000" dirty="0"/>
            </a:br>
            <a:r>
              <a:rPr lang="fr-FR" sz="2000" dirty="0"/>
              <a:t>Sans Limite, afin de les soutenir à grande échelle.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47584-6237-4849-B6FB-8B8CB01F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7934" y="6391538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1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CFF2-3D36-4335-91D3-D7F799179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68" y="395605"/>
            <a:ext cx="10515600" cy="823595"/>
          </a:xfrm>
          <a:ln w="57150">
            <a:solidFill>
              <a:schemeClr val="accent2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Les </a:t>
            </a:r>
            <a:r>
              <a:rPr lang="en-US" b="1" dirty="0" err="1">
                <a:solidFill>
                  <a:srgbClr val="00B0F0"/>
                </a:solidFill>
              </a:rPr>
              <a:t>partenaires</a:t>
            </a:r>
            <a:r>
              <a:rPr lang="en-US" b="1" dirty="0">
                <a:solidFill>
                  <a:srgbClr val="00B0F0"/>
                </a:solidFill>
              </a:rPr>
              <a:t> de </a:t>
            </a:r>
            <a:r>
              <a:rPr lang="en-US" b="1" dirty="0" err="1">
                <a:solidFill>
                  <a:srgbClr val="00B0F0"/>
                </a:solidFill>
              </a:rPr>
              <a:t>Youht</a:t>
            </a:r>
            <a:r>
              <a:rPr lang="en-US" b="1" dirty="0">
                <a:solidFill>
                  <a:srgbClr val="00B0F0"/>
                </a:solidFill>
              </a:rPr>
              <a:t>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2253-399B-4731-A8FE-9D98D5213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600" dirty="0" err="1">
                <a:latin typeface="Arial" panose="020B0604020202020204" pitchFamily="34" charset="0"/>
                <a:cs typeface="Arial" panose="020B0604020202020204" pitchFamily="34" charset="0"/>
              </a:rPr>
              <a:t>Youth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600" dirty="0" err="1">
                <a:latin typeface="Arial" panose="020B0604020202020204" pitchFamily="34" charset="0"/>
                <a:cs typeface="Arial" panose="020B0604020202020204" pitchFamily="34" charset="0"/>
              </a:rPr>
              <a:t>Chellenge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 est une initiative de </a:t>
            </a:r>
            <a:r>
              <a:rPr lang="fr-FR" sz="2600" dirty="0" err="1">
                <a:latin typeface="Arial" panose="020B0604020202020204" pitchFamily="34" charset="0"/>
                <a:cs typeface="Arial" panose="020B0604020202020204" pitchFamily="34" charset="0"/>
              </a:rPr>
              <a:t>GenU</a:t>
            </a: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 en partenariat avec:</a:t>
            </a:r>
          </a:p>
          <a:p>
            <a:pPr>
              <a:lnSpc>
                <a:spcPct val="150000"/>
              </a:lnSpc>
              <a:buClr>
                <a:srgbClr val="EB6E19"/>
              </a:buClr>
              <a:buFont typeface="Courier New" panose="02070309020205020404" pitchFamily="49" charset="0"/>
              <a:buChar char="o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Le PNUD, </a:t>
            </a:r>
          </a:p>
          <a:p>
            <a:pPr>
              <a:lnSpc>
                <a:spcPct val="150000"/>
              </a:lnSpc>
              <a:buClr>
                <a:srgbClr val="EB6E19"/>
              </a:buClr>
              <a:buFont typeface="Courier New" panose="02070309020205020404" pitchFamily="49" charset="0"/>
              <a:buChar char="o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Le UNICEF, </a:t>
            </a:r>
          </a:p>
          <a:p>
            <a:pPr>
              <a:lnSpc>
                <a:spcPct val="150000"/>
              </a:lnSpc>
              <a:buClr>
                <a:srgbClr val="EB6E19"/>
              </a:buClr>
              <a:buFont typeface="Courier New" panose="02070309020205020404" pitchFamily="49" charset="0"/>
              <a:buChar char="o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Le Plan International</a:t>
            </a:r>
          </a:p>
          <a:p>
            <a:pPr>
              <a:lnSpc>
                <a:spcPct val="150000"/>
              </a:lnSpc>
              <a:buClr>
                <a:srgbClr val="EB6E19"/>
              </a:buClr>
              <a:buFont typeface="Courier New" panose="02070309020205020404" pitchFamily="49" charset="0"/>
              <a:buChar char="o"/>
            </a:pPr>
            <a:r>
              <a:rPr lang="fr-FR" sz="2600" dirty="0">
                <a:latin typeface="Arial" panose="020B0604020202020204" pitchFamily="34" charset="0"/>
                <a:cs typeface="Arial" panose="020B0604020202020204" pitchFamily="34" charset="0"/>
              </a:rPr>
              <a:t>Le Mouvement Mondiale des Scouts 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47584-6237-4849-B6FB-8B8CB01F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6358" y="6382957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31557A-49F1-46E6-BB09-091EE417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28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9550E-8E89-4DFF-9093-AD294267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486" y="2366966"/>
            <a:ext cx="8727284" cy="1809710"/>
          </a:xfrm>
          <a:solidFill>
            <a:schemeClr val="bg1">
              <a:alpha val="76000"/>
            </a:schemeClr>
          </a:solidFill>
        </p:spPr>
        <p:txBody>
          <a:bodyPr>
            <a:normAutofit fontScale="85000" lnSpcReduction="20000"/>
          </a:bodyPr>
          <a:lstStyle/>
          <a:p>
            <a:endParaRPr lang="fr-FR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fr-FR" sz="6600" b="1" dirty="0">
                <a:solidFill>
                  <a:schemeClr val="accent2"/>
                </a:solidFill>
              </a:rPr>
              <a:t>Merci de votre aimable attention!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45D30-DBAA-4DD0-9599-C8445BEC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2850" y="6381734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01303-CDF0-4BBC-A13C-DED93BBB9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7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7F35D-C6A5-4025-9AEC-18E2CE67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158"/>
          </a:xfrm>
        </p:spPr>
        <p:txBody>
          <a:bodyPr/>
          <a:lstStyle/>
          <a:p>
            <a:r>
              <a:rPr lang="fr-FR" b="1" dirty="0">
                <a:solidFill>
                  <a:srgbClr val="00B0F0"/>
                </a:solidFill>
              </a:rPr>
              <a:t>Calendrier indicatif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45D30-DBAA-4DD0-9599-C8445BEC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76977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F5A302-6CDB-4527-9790-AE2A46A6A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179001"/>
              </p:ext>
            </p:extLst>
          </p:nvPr>
        </p:nvGraphicFramePr>
        <p:xfrm>
          <a:off x="585013" y="1349982"/>
          <a:ext cx="9915572" cy="54819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52897">
                  <a:extLst>
                    <a:ext uri="{9D8B030D-6E8A-4147-A177-3AD203B41FA5}">
                      <a16:colId xmlns:a16="http://schemas.microsoft.com/office/drawing/2014/main" val="2340420488"/>
                    </a:ext>
                  </a:extLst>
                </a:gridCol>
                <a:gridCol w="3962675">
                  <a:extLst>
                    <a:ext uri="{9D8B030D-6E8A-4147-A177-3AD203B41FA5}">
                      <a16:colId xmlns:a16="http://schemas.microsoft.com/office/drawing/2014/main" val="1895462552"/>
                    </a:ext>
                  </a:extLst>
                </a:gridCol>
              </a:tblGrid>
              <a:tr h="360177">
                <a:tc>
                  <a:txBody>
                    <a:bodyPr/>
                    <a:lstStyle/>
                    <a:p>
                      <a:r>
                        <a:rPr lang="fr-FR" sz="2000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Période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778014"/>
                  </a:ext>
                </a:extLst>
              </a:tr>
              <a:tr h="637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Lancement officiel du  Projet</a:t>
                      </a:r>
                    </a:p>
                    <a:p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20 Décembre 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968238"/>
                  </a:ext>
                </a:extLst>
              </a:tr>
              <a:tr h="637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Dépôt des candidatures</a:t>
                      </a:r>
                    </a:p>
                    <a:p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20 Décembre 2019– 10 Février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805277"/>
                  </a:ext>
                </a:extLst>
              </a:tr>
              <a:tr h="637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Sélection des candidats</a:t>
                      </a:r>
                    </a:p>
                    <a:p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13 – 14 Février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457507"/>
                  </a:ext>
                </a:extLst>
              </a:tr>
              <a:tr h="637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Organisation des ateliers de conception</a:t>
                      </a:r>
                    </a:p>
                    <a:p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17 – 27 Février 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301650"/>
                  </a:ext>
                </a:extLst>
              </a:tr>
              <a:tr h="360177">
                <a:tc>
                  <a:txBody>
                    <a:bodyPr/>
                    <a:lstStyle/>
                    <a:p>
                      <a:r>
                        <a:rPr lang="fr-FR" sz="2000" dirty="0"/>
                        <a:t>Sélection des cinq idées les plus prometteuses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3 Mars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515855"/>
                  </a:ext>
                </a:extLst>
              </a:tr>
              <a:tr h="637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/>
                        <a:t>Mise en œuvre des projets retenus. </a:t>
                      </a:r>
                    </a:p>
                    <a:p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Mars-Mai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006834"/>
                  </a:ext>
                </a:extLst>
              </a:tr>
              <a:tr h="483230">
                <a:tc>
                  <a:txBody>
                    <a:bodyPr/>
                    <a:lstStyle/>
                    <a:p>
                      <a:r>
                        <a:rPr lang="fr-FR" sz="2000" dirty="0"/>
                        <a:t>Sélection des deux solutions les plus prometteuses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2 Juin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664396"/>
                  </a:ext>
                </a:extLst>
              </a:tr>
              <a:tr h="637235">
                <a:tc>
                  <a:txBody>
                    <a:bodyPr/>
                    <a:lstStyle/>
                    <a:p>
                      <a:r>
                        <a:rPr lang="fr-FR" sz="2000" dirty="0"/>
                        <a:t>Soumission des solutions les plus prometteuses  au niveau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Juin 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45350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442D760-974F-4F80-9ACA-26315ED03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585" y="5260987"/>
            <a:ext cx="1438228" cy="13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36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7F35D-C6A5-4025-9AEC-18E2CE67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84" y="1397932"/>
            <a:ext cx="10515600" cy="1357637"/>
          </a:xfrm>
        </p:spPr>
        <p:txBody>
          <a:bodyPr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Merci beaucoup!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45D30-DBAA-4DD0-9599-C8445BEC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184" y="6438853"/>
            <a:ext cx="2743200" cy="365125"/>
          </a:xfrm>
        </p:spPr>
        <p:txBody>
          <a:bodyPr/>
          <a:lstStyle/>
          <a:p>
            <a:fld id="{52D1934C-5B33-4B0D-88E3-803271ED8552}" type="slidenum">
              <a:rPr lang="en-US" smtClean="0"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128FD-D724-48E4-8C19-E69E3C4D2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551" y="3241624"/>
            <a:ext cx="1651747" cy="159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79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684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Wingdings</vt:lpstr>
      <vt:lpstr>Office Theme</vt:lpstr>
      <vt:lpstr>YOUTH CHALLENGE</vt:lpstr>
      <vt:lpstr>Qu’est-ce-que Génération Sans Limite? (Generation Unlimited)</vt:lpstr>
      <vt:lpstr>Objectifs stratégiques du GenU</vt:lpstr>
      <vt:lpstr>Objectifs stratégiques du GenU (suite)</vt:lpstr>
      <vt:lpstr>PowerPoint Presentation</vt:lpstr>
      <vt:lpstr>C’est quoi le Youth Challenge?</vt:lpstr>
      <vt:lpstr>Les objectifs du Youth Challenge</vt:lpstr>
      <vt:lpstr>Les objectifs du Youth Challenge   </vt:lpstr>
      <vt:lpstr>Processus</vt:lpstr>
      <vt:lpstr>Les partenaires de Youht Challenge</vt:lpstr>
      <vt:lpstr>PowerPoint Presentation</vt:lpstr>
      <vt:lpstr>Calendrier indicatif</vt:lpstr>
      <vt:lpstr>Merci beaucoup!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YOUTH CHALLENGE</dc:title>
  <dc:creator>Jean Junior Niyonkuru</dc:creator>
  <cp:lastModifiedBy>Jean Junior Niyonkuru</cp:lastModifiedBy>
  <cp:revision>28</cp:revision>
  <cp:lastPrinted>2019-10-21T19:14:32Z</cp:lastPrinted>
  <dcterms:created xsi:type="dcterms:W3CDTF">2019-10-21T18:10:22Z</dcterms:created>
  <dcterms:modified xsi:type="dcterms:W3CDTF">2020-02-20T00:51:07Z</dcterms:modified>
</cp:coreProperties>
</file>