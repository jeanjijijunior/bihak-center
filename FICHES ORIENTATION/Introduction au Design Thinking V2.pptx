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fr-C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G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C0E40-F33E-4AE7-91F8-49CB14E211C7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G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G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1AC26-FA44-4EC5-B045-5B60675DCA3E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419942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A4E63-64C0-4A3E-90EE-1A2FFB0BE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CA81D8-BFB7-4426-A4BC-A68C49E25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550BE8-4A47-41B8-8B09-0614B985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87B369-3C99-4133-9D75-3DC7CBE2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ACA462-EE58-49C7-953D-563FAE0D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26934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7F2B4-CDF3-42F8-9DF4-9CF59AB9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201D36-972B-4866-96B0-3F5483D60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EE0B7C-2B3B-4E49-946C-E4BEDF81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A92CD8-9560-43D7-925E-4FE6376D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39DFA-35C5-4EFC-B414-B4FBF9B6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130017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3C693-56C6-4B4A-8C97-E6E15784D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C14FDF-EFDE-470B-AC26-24863E9A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3CEBFB-41B0-4566-B50A-9ED188229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8C7F32-AD22-4DB0-88BA-1E71E0AF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686074-9975-4288-8C2E-28536E81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420902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61644-DCBB-426F-B57E-528C4A1E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7B1EB7-9945-433D-8DC5-AEFAE2299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536E3B-F773-4154-A6B2-DB106B3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63D1AB-CC3F-4A7A-AD2A-00732B75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1BC623-7DB9-40C5-AF5E-41B7A395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F26D9D-16DD-451F-B3EB-453E1FEA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108616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7EADD-4E3F-443F-857C-F4CFF660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33CCE9-615F-43F7-A1BC-B67345CAF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86499F-6C3E-4A7F-86A1-6511A99F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05CE29-4F6E-4FD2-BA8E-FE499296F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7DC8F2-D5A8-4E89-BD68-BC0F569F3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66BACC-5143-47B3-8153-FBC6A3C6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DC6CFB-ED9C-4CD5-8956-4155CE5E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36494BD-CF77-4B35-895B-D1FE4989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8768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1A70F-44B8-489C-BC17-3179098F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00606E-8B4C-472E-81BE-CD84DA60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713588-B973-4938-9A21-A937EFA2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7DDA1E-942B-4ED0-B6FD-3BEEA5CF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196076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91B9EB-78ED-4FFD-AB5F-1571EBF5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B18400-DBD3-4889-BC72-189FED0E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524BCA-C7DF-445D-BA49-E8C10273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419393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AE28C-2AD5-4CDE-BBBF-4D140FE2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3D54E7-9919-4EA7-A1BC-30FC1CD49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FC1163-5668-452A-AEC5-DBA3BEA54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7E0FE8-B4FB-4FEE-9084-840F81E1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48E74D-5003-4393-ACAB-91A40E40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4E1930-9B63-4433-9A10-013D79C9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4289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72749-A062-4F4C-B77F-60DFA81B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527F5D4-AC90-4798-A9AC-542A2CE2A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C465AC-F38F-4AC0-8E2C-F6C517173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7F1AE4-4102-40D1-ABD2-CCCBD716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ED7983-0BCA-41A5-B469-30694AB9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AF26A4-3423-43FA-97FD-02BAA20A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302694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A5CA3-43EF-47F6-9AC0-A752B7E3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AF918C-807E-45D4-9BF4-FCDC5215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4C466A-3DFB-4350-8629-D4457682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F99E53-04BF-4E0F-B56F-B405BA5E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7EC48-1EE8-425D-B4A7-19FF1407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79068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5DD2A2-6158-4D5A-AD93-42AC04CCF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688DB3-01CF-4719-9111-FA8417C4D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2037E5-FE3D-4DAA-B28C-4086112B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FF72DD-766D-4D7B-B3D5-98FA438E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93FA87-DDD2-4A47-8FB1-A0982C07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17643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2160D9-014D-4DE2-A1BD-CAFD8844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9C3FB4-9565-49B3-AEF1-3B6AE1208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8DBD7F-3932-4FC9-9988-CC5506AAF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EBCDE-3E94-469A-8064-03FD27784EBF}" type="datetimeFigureOut">
              <a:rPr lang="fr-CG" smtClean="0"/>
              <a:t>20/02/2020</a:t>
            </a:fld>
            <a:endParaRPr lang="fr-C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97804E-2818-48B1-84C1-9744811CE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AB9F42-C987-4C25-BA29-3E8FA2199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7D358-C71F-4879-8C62-89E7739C2A3C}" type="slidenum">
              <a:rPr lang="fr-CG" smtClean="0"/>
              <a:t>‹N°›</a:t>
            </a:fld>
            <a:endParaRPr lang="fr-CG"/>
          </a:p>
        </p:txBody>
      </p:sp>
    </p:spTree>
    <p:extLst>
      <p:ext uri="{BB962C8B-B14F-4D97-AF65-F5344CB8AC3E}">
        <p14:creationId xmlns:p14="http://schemas.microsoft.com/office/powerpoint/2010/main" val="416007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 5" descr="Une image contenant lampe&#10;&#10;Description générée automatiquement">
            <a:extLst>
              <a:ext uri="{FF2B5EF4-FFF2-40B4-BE49-F238E27FC236}">
                <a16:creationId xmlns:a16="http://schemas.microsoft.com/office/drawing/2014/main" id="{458C860F-F567-4D34-A864-8B6730FEC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76" y="1643173"/>
            <a:ext cx="3343202" cy="2674561"/>
          </a:xfrm>
          <a:prstGeom prst="rect">
            <a:avLst/>
          </a:pr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20D3C8-40CE-4175-AC00-089C410C7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244" y="1674302"/>
            <a:ext cx="6020730" cy="28598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141E99D-7980-4A80-B864-B02F55E55790}"/>
              </a:ext>
            </a:extLst>
          </p:cNvPr>
          <p:cNvSpPr txBox="1"/>
          <p:nvPr/>
        </p:nvSpPr>
        <p:spPr>
          <a:xfrm>
            <a:off x="5063368" y="417400"/>
            <a:ext cx="6894576" cy="5232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Bauhaus 93" panose="04030905020B02020C02" pitchFamily="82" charset="0"/>
              </a:rPr>
              <a:t>APPROCHE DESIGN THINKING EN 5 ETAPES</a:t>
            </a:r>
            <a:endParaRPr lang="fr-CG" sz="2800" dirty="0">
              <a:latin typeface="Bauhaus 93" panose="04030905020B02020C02" pitchFamily="82" charset="0"/>
            </a:endParaRPr>
          </a:p>
        </p:txBody>
      </p:sp>
      <p:pic>
        <p:nvPicPr>
          <p:cNvPr id="49" name="Image 4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60AF1EDA-3B8D-42CC-9F26-570F91E71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640" y="868962"/>
            <a:ext cx="1391938" cy="730197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8A989E0-1863-4FBE-94AE-E2D6DD7E9CF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44434" y="652528"/>
            <a:ext cx="974725" cy="94361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F411A0-01B3-44D1-9599-619A950128CD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G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EB720E-D5BE-4DC2-9AFF-BEC4CB8C00D1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G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A5DB2A-E0D1-4AF9-ACCB-16E77129D69D}"/>
              </a:ext>
            </a:extLst>
          </p:cNvPr>
          <p:cNvSpPr txBox="1"/>
          <p:nvPr/>
        </p:nvSpPr>
        <p:spPr>
          <a:xfrm>
            <a:off x="5762640" y="354710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G" dirty="0"/>
          </a:p>
        </p:txBody>
      </p:sp>
    </p:spTree>
    <p:extLst>
      <p:ext uri="{BB962C8B-B14F-4D97-AF65-F5344CB8AC3E}">
        <p14:creationId xmlns:p14="http://schemas.microsoft.com/office/powerpoint/2010/main" val="166342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signe, trafic, rue, moniteur&#10;&#10;Description générée automatiquement">
            <a:extLst>
              <a:ext uri="{FF2B5EF4-FFF2-40B4-BE49-F238E27FC236}">
                <a16:creationId xmlns:a16="http://schemas.microsoft.com/office/drawing/2014/main" id="{2D2722C9-FF13-4EF2-BCDD-E4C5708BC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5" r="1" b="1"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DAC36A80-B846-4493-8515-2F35053E1065}"/>
              </a:ext>
            </a:extLst>
          </p:cNvPr>
          <p:cNvSpPr txBox="1"/>
          <p:nvPr/>
        </p:nvSpPr>
        <p:spPr>
          <a:xfrm>
            <a:off x="525516" y="3417573"/>
            <a:ext cx="4593021" cy="2619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Le Design thinking est un processus de co-créativité impliquant les retours sur l’utilisateur final en 5 étapes.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Il est iteratif, c’est-à-dire peut être répéter pour être améliorer.</a:t>
            </a:r>
          </a:p>
        </p:txBody>
      </p:sp>
    </p:spTree>
    <p:extLst>
      <p:ext uri="{BB962C8B-B14F-4D97-AF65-F5344CB8AC3E}">
        <p14:creationId xmlns:p14="http://schemas.microsoft.com/office/powerpoint/2010/main" val="339509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22BD39-6B5B-493A-BE62-58ECD0F7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741521E-DC76-41B9-8A47-448CD4F9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72661" y="-3359290"/>
            <a:ext cx="5470372" cy="1218895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7323A81-0690-45BE-991B-57BEC9C3715C}"/>
              </a:ext>
            </a:extLst>
          </p:cNvPr>
          <p:cNvSpPr txBox="1"/>
          <p:nvPr/>
        </p:nvSpPr>
        <p:spPr>
          <a:xfrm>
            <a:off x="1403632" y="184336"/>
            <a:ext cx="9283781" cy="14059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dirty="0" err="1">
                <a:latin typeface="+mj-lt"/>
                <a:ea typeface="+mj-ea"/>
                <a:cs typeface="+mj-cs"/>
              </a:rPr>
              <a:t>Empathiser</a:t>
            </a:r>
            <a:r>
              <a:rPr lang="en-US" sz="3500" dirty="0">
                <a:latin typeface="+mj-lt"/>
                <a:ea typeface="+mj-ea"/>
                <a:cs typeface="+mj-cs"/>
              </a:rPr>
              <a:t> </a:t>
            </a:r>
            <a:r>
              <a:rPr lang="en-US" sz="3500" dirty="0" err="1">
                <a:latin typeface="+mj-lt"/>
                <a:ea typeface="+mj-ea"/>
                <a:cs typeface="+mj-cs"/>
              </a:rPr>
              <a:t>consiste</a:t>
            </a:r>
            <a:r>
              <a:rPr lang="en-US" sz="3500" dirty="0">
                <a:latin typeface="+mj-lt"/>
                <a:ea typeface="+mj-ea"/>
                <a:cs typeface="+mj-cs"/>
              </a:rPr>
              <a:t> à </a:t>
            </a:r>
            <a:r>
              <a:rPr lang="en-US" sz="3500" dirty="0" err="1">
                <a:latin typeface="+mj-lt"/>
                <a:ea typeface="+mj-ea"/>
                <a:cs typeface="+mj-cs"/>
              </a:rPr>
              <a:t>comprendre</a:t>
            </a:r>
            <a:r>
              <a:rPr lang="en-US" sz="3500" dirty="0">
                <a:latin typeface="+mj-lt"/>
                <a:ea typeface="+mj-ea"/>
                <a:cs typeface="+mj-cs"/>
              </a:rPr>
              <a:t> le </a:t>
            </a:r>
            <a:r>
              <a:rPr lang="en-US" sz="3500" dirty="0" err="1">
                <a:latin typeface="+mj-lt"/>
                <a:ea typeface="+mj-ea"/>
                <a:cs typeface="+mj-cs"/>
              </a:rPr>
              <a:t>problème</a:t>
            </a:r>
            <a:r>
              <a:rPr lang="en-US" sz="3500" dirty="0">
                <a:latin typeface="+mj-lt"/>
                <a:ea typeface="+mj-ea"/>
                <a:cs typeface="+mj-cs"/>
              </a:rPr>
              <a:t> du point de </a:t>
            </a:r>
            <a:r>
              <a:rPr lang="en-US" sz="3500" dirty="0" err="1">
                <a:latin typeface="+mj-lt"/>
                <a:ea typeface="+mj-ea"/>
                <a:cs typeface="+mj-cs"/>
              </a:rPr>
              <a:t>vue</a:t>
            </a:r>
            <a:r>
              <a:rPr lang="en-US" sz="3500" dirty="0">
                <a:latin typeface="+mj-lt"/>
                <a:ea typeface="+mj-ea"/>
                <a:cs typeface="+mj-cs"/>
              </a:rPr>
              <a:t> de </a:t>
            </a:r>
            <a:r>
              <a:rPr lang="en-US" sz="3500" dirty="0" err="1">
                <a:latin typeface="+mj-lt"/>
                <a:ea typeface="+mj-ea"/>
                <a:cs typeface="+mj-cs"/>
              </a:rPr>
              <a:t>l’utilisateur</a:t>
            </a:r>
            <a:r>
              <a:rPr lang="en-US" sz="3500" dirty="0">
                <a:latin typeface="+mj-lt"/>
                <a:ea typeface="+mj-ea"/>
                <a:cs typeface="+mj-cs"/>
              </a:rPr>
              <a:t> final.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FD85F6-ECDC-4124-9916-6444E142C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78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9828589-017D-4DA2-94D0-735748FD66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8" r="-1" b="20309"/>
          <a:stretch/>
        </p:blipFill>
        <p:spPr>
          <a:xfrm>
            <a:off x="-1078" y="3076855"/>
            <a:ext cx="12188952" cy="31182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B5D26B4-74AD-4118-8F13-7051DA3BF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5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1A6F78-C919-46F0-9B0A-2ED388861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9882614-11C4-4368-9534-6EBAC348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684274" y="-4610867"/>
            <a:ext cx="7223503" cy="1609523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080EF4B-B3DE-4D6D-B425-13612A7BDA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689" b="16009"/>
          <a:stretch/>
        </p:blipFill>
        <p:spPr>
          <a:xfrm>
            <a:off x="20" y="-2"/>
            <a:ext cx="12191980" cy="3657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C59B8F-AEFF-4D3A-BA0E-3C4311198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4F8FCAC-13B0-41C6-96FC-3AAF821D4573}"/>
              </a:ext>
            </a:extLst>
          </p:cNvPr>
          <p:cNvSpPr txBox="1"/>
          <p:nvPr/>
        </p:nvSpPr>
        <p:spPr>
          <a:xfrm>
            <a:off x="3035431" y="3789399"/>
            <a:ext cx="8879201" cy="23828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500" b="1" dirty="0" err="1"/>
              <a:t>Définir</a:t>
            </a:r>
            <a:r>
              <a:rPr lang="en-US" sz="3500" dirty="0"/>
              <a:t> </a:t>
            </a:r>
            <a:r>
              <a:rPr lang="en-US" sz="3500" dirty="0" err="1"/>
              <a:t>consiste</a:t>
            </a:r>
            <a:r>
              <a:rPr lang="en-US" sz="3500" dirty="0"/>
              <a:t> à </a:t>
            </a:r>
            <a:r>
              <a:rPr lang="en-US" sz="3500" dirty="0" err="1"/>
              <a:t>analyser</a:t>
            </a:r>
            <a:r>
              <a:rPr lang="en-US" sz="3500" dirty="0"/>
              <a:t> et </a:t>
            </a:r>
            <a:r>
              <a:rPr lang="en-US" sz="3500" dirty="0" err="1"/>
              <a:t>interpréter</a:t>
            </a:r>
            <a:r>
              <a:rPr lang="en-US" sz="3500" dirty="0"/>
              <a:t> les information </a:t>
            </a:r>
            <a:r>
              <a:rPr lang="en-US" sz="3500" dirty="0" err="1"/>
              <a:t>découvertes</a:t>
            </a:r>
            <a:r>
              <a:rPr lang="en-US" sz="3500" dirty="0"/>
              <a:t> à la première </a:t>
            </a:r>
            <a:r>
              <a:rPr lang="en-US" sz="3500" dirty="0" err="1"/>
              <a:t>étape</a:t>
            </a:r>
            <a:r>
              <a:rPr lang="en-US" sz="3500" dirty="0"/>
              <a:t>. Elle </a:t>
            </a:r>
            <a:r>
              <a:rPr lang="en-US" sz="3500" dirty="0" err="1"/>
              <a:t>permet</a:t>
            </a:r>
            <a:r>
              <a:rPr lang="en-US" sz="3500" dirty="0"/>
              <a:t> de </a:t>
            </a:r>
            <a:r>
              <a:rPr lang="en-US" sz="3500" dirty="0" err="1"/>
              <a:t>refléter</a:t>
            </a:r>
            <a:r>
              <a:rPr lang="en-US" sz="3500" dirty="0"/>
              <a:t> le </a:t>
            </a:r>
            <a:r>
              <a:rPr lang="en-US" sz="3500" dirty="0" err="1"/>
              <a:t>problème</a:t>
            </a:r>
            <a:r>
              <a:rPr lang="en-US" sz="3500" dirty="0"/>
              <a:t> </a:t>
            </a:r>
            <a:r>
              <a:rPr lang="en-US" sz="3500" dirty="0" err="1"/>
              <a:t>pré-établi</a:t>
            </a:r>
            <a:r>
              <a:rPr lang="en-US" sz="3500" dirty="0"/>
              <a:t>, pour </a:t>
            </a:r>
            <a:r>
              <a:rPr lang="en-US" sz="3500" dirty="0" err="1"/>
              <a:t>créer</a:t>
            </a:r>
            <a:r>
              <a:rPr lang="en-US" sz="3500" dirty="0"/>
              <a:t> un plan et </a:t>
            </a:r>
            <a:r>
              <a:rPr lang="en-US" sz="3500" dirty="0" err="1"/>
              <a:t>répondre</a:t>
            </a:r>
            <a:r>
              <a:rPr lang="en-US" sz="3500" dirty="0"/>
              <a:t> au </a:t>
            </a:r>
            <a:r>
              <a:rPr lang="en-US" sz="3500" dirty="0" err="1"/>
              <a:t>besoin</a:t>
            </a:r>
            <a:r>
              <a:rPr lang="en-US" sz="35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2CD37-C859-44CD-853E-5A3427DDB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2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9DC1B58-2199-494F-AFC4-25C684F5EC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1" r="4765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95D968F-37BC-4217-A2D1-D0B6C2C69217}"/>
              </a:ext>
            </a:extLst>
          </p:cNvPr>
          <p:cNvSpPr txBox="1"/>
          <p:nvPr/>
        </p:nvSpPr>
        <p:spPr>
          <a:xfrm>
            <a:off x="8022021" y="3231931"/>
            <a:ext cx="3852041" cy="1834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 err="1">
                <a:latin typeface="+mj-lt"/>
                <a:ea typeface="+mj-ea"/>
                <a:cs typeface="+mj-cs"/>
              </a:rPr>
              <a:t>Idéaliser</a:t>
            </a:r>
            <a:r>
              <a:rPr lang="en-US" sz="2500" dirty="0"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latin typeface="+mj-lt"/>
                <a:ea typeface="+mj-ea"/>
                <a:cs typeface="+mj-cs"/>
              </a:rPr>
              <a:t>est</a:t>
            </a:r>
            <a:r>
              <a:rPr lang="en-US" sz="2500" dirty="0"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latin typeface="+mj-lt"/>
                <a:ea typeface="+mj-ea"/>
                <a:cs typeface="+mj-cs"/>
              </a:rPr>
              <a:t>l’étape</a:t>
            </a:r>
            <a:r>
              <a:rPr lang="en-US" sz="2500" dirty="0"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latin typeface="+mj-lt"/>
                <a:ea typeface="+mj-ea"/>
                <a:cs typeface="+mj-cs"/>
              </a:rPr>
              <a:t>créative</a:t>
            </a:r>
            <a:r>
              <a:rPr lang="en-US" sz="2500" dirty="0"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latin typeface="+mj-lt"/>
                <a:ea typeface="+mj-ea"/>
                <a:cs typeface="+mj-cs"/>
              </a:rPr>
              <a:t>où</a:t>
            </a:r>
            <a:r>
              <a:rPr lang="en-US" sz="2500" dirty="0">
                <a:latin typeface="+mj-lt"/>
                <a:ea typeface="+mj-ea"/>
                <a:cs typeface="+mj-cs"/>
              </a:rPr>
              <a:t> la solution </a:t>
            </a:r>
            <a:r>
              <a:rPr lang="en-US" sz="2500" dirty="0" err="1">
                <a:latin typeface="+mj-lt"/>
                <a:ea typeface="+mj-ea"/>
                <a:cs typeface="+mj-cs"/>
              </a:rPr>
              <a:t>est</a:t>
            </a:r>
            <a:r>
              <a:rPr lang="en-US" sz="2500" dirty="0">
                <a:latin typeface="+mj-lt"/>
                <a:ea typeface="+mj-ea"/>
                <a:cs typeface="+mj-cs"/>
              </a:rPr>
              <a:t> </a:t>
            </a:r>
            <a:r>
              <a:rPr lang="en-US" sz="2500" dirty="0" err="1">
                <a:latin typeface="+mj-lt"/>
                <a:ea typeface="+mj-ea"/>
                <a:cs typeface="+mj-cs"/>
              </a:rPr>
              <a:t>imaginée</a:t>
            </a:r>
            <a:r>
              <a:rPr lang="en-US" sz="2500" dirty="0">
                <a:latin typeface="+mj-lt"/>
                <a:ea typeface="+mj-ea"/>
                <a:cs typeface="+mj-cs"/>
              </a:rPr>
              <a:t>. Elle </a:t>
            </a:r>
            <a:r>
              <a:rPr lang="en-US" sz="2500" dirty="0" err="1">
                <a:latin typeface="+mj-lt"/>
                <a:ea typeface="+mj-ea"/>
                <a:cs typeface="+mj-cs"/>
              </a:rPr>
              <a:t>exige</a:t>
            </a:r>
            <a:r>
              <a:rPr lang="en-US" sz="2500" dirty="0">
                <a:latin typeface="+mj-lt"/>
                <a:ea typeface="+mj-ea"/>
                <a:cs typeface="+mj-cs"/>
              </a:rPr>
              <a:t> un esprit </a:t>
            </a:r>
            <a:r>
              <a:rPr lang="en-US" sz="2500" dirty="0" err="1">
                <a:latin typeface="+mj-lt"/>
                <a:ea typeface="+mj-ea"/>
                <a:cs typeface="+mj-cs"/>
              </a:rPr>
              <a:t>créatif</a:t>
            </a:r>
            <a:r>
              <a:rPr lang="en-US" sz="2500" dirty="0">
                <a:latin typeface="+mj-lt"/>
                <a:ea typeface="+mj-ea"/>
                <a:cs typeface="+mj-cs"/>
              </a:rPr>
              <a:t> pour imaginer </a:t>
            </a:r>
            <a:r>
              <a:rPr lang="en-US" sz="2500" dirty="0" err="1">
                <a:latin typeface="+mj-lt"/>
                <a:ea typeface="+mj-ea"/>
                <a:cs typeface="+mj-cs"/>
              </a:rPr>
              <a:t>une</a:t>
            </a:r>
            <a:r>
              <a:rPr lang="en-US" sz="2500" dirty="0">
                <a:latin typeface="+mj-lt"/>
                <a:ea typeface="+mj-ea"/>
                <a:cs typeface="+mj-cs"/>
              </a:rPr>
              <a:t> solution </a:t>
            </a:r>
            <a:r>
              <a:rPr lang="en-US" sz="2500" dirty="0" err="1">
                <a:latin typeface="+mj-lt"/>
                <a:ea typeface="+mj-ea"/>
                <a:cs typeface="+mj-cs"/>
              </a:rPr>
              <a:t>innovante</a:t>
            </a:r>
            <a:r>
              <a:rPr lang="en-US" sz="2500" dirty="0">
                <a:latin typeface="+mj-lt"/>
                <a:ea typeface="+mj-ea"/>
                <a:cs typeface="+mj-cs"/>
              </a:rPr>
              <a:t>.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9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5E45003-DF46-4994-9FB8-390EBD09A5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08" r="5026" b="1"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3FC2B225-2B2F-45E4-86CC-95064E4153FC}"/>
              </a:ext>
            </a:extLst>
          </p:cNvPr>
          <p:cNvSpPr txBox="1"/>
          <p:nvPr/>
        </p:nvSpPr>
        <p:spPr>
          <a:xfrm>
            <a:off x="131976" y="2573519"/>
            <a:ext cx="5665510" cy="3463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/>
              <a:t>Prototyper</a:t>
            </a:r>
            <a:r>
              <a:rPr lang="en-US" sz="2400"/>
              <a:t> consiste à utiliser la créativité de l’étape précédente, pour créer quelque chose d’authentique et tangible. Dans cette étape la solution prend vie tout en gardant l’utilisateur finale en tête.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615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4A79EC-8F1B-4B9E-AA29-B3AF1BC2EE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43" b="14449"/>
          <a:stretch/>
        </p:blipFill>
        <p:spPr>
          <a:xfrm>
            <a:off x="20" y="10"/>
            <a:ext cx="12188804" cy="422670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705FA14-305E-4B8B-91E8-7B98FD0D04EC}"/>
              </a:ext>
            </a:extLst>
          </p:cNvPr>
          <p:cNvSpPr txBox="1"/>
          <p:nvPr/>
        </p:nvSpPr>
        <p:spPr>
          <a:xfrm>
            <a:off x="1480008" y="4535424"/>
            <a:ext cx="8461114" cy="16184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latin typeface="Century Gothic" panose="020B0502020202020204" pitchFamily="34" charset="0"/>
              </a:rPr>
              <a:t>Tester</a:t>
            </a:r>
            <a:r>
              <a:rPr lang="en-US" sz="3200" dirty="0"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latin typeface="Century Gothic" panose="020B0502020202020204" pitchFamily="34" charset="0"/>
              </a:rPr>
              <a:t>consiste</a:t>
            </a:r>
            <a:r>
              <a:rPr lang="en-US" sz="3200" dirty="0">
                <a:latin typeface="Century Gothic" panose="020B0502020202020204" pitchFamily="34" charset="0"/>
              </a:rPr>
              <a:t> à examiner le prototype et </a:t>
            </a:r>
            <a:r>
              <a:rPr lang="en-US" sz="3200" dirty="0" err="1">
                <a:latin typeface="Century Gothic" panose="020B0502020202020204" pitchFamily="34" charset="0"/>
              </a:rPr>
              <a:t>collecter</a:t>
            </a:r>
            <a:r>
              <a:rPr lang="en-US" sz="3200" dirty="0">
                <a:latin typeface="Century Gothic" panose="020B0502020202020204" pitchFamily="34" charset="0"/>
              </a:rPr>
              <a:t> la retrospection,  </a:t>
            </a:r>
            <a:r>
              <a:rPr lang="en-US" sz="3200" dirty="0" err="1">
                <a:latin typeface="Century Gothic" panose="020B0502020202020204" pitchFamily="34" charset="0"/>
              </a:rPr>
              <a:t>Puis</a:t>
            </a:r>
            <a:r>
              <a:rPr lang="en-US" sz="3200" dirty="0"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latin typeface="Century Gothic" panose="020B0502020202020204" pitchFamily="34" charset="0"/>
              </a:rPr>
              <a:t>finaliser</a:t>
            </a:r>
            <a:r>
              <a:rPr lang="en-US" sz="3200" dirty="0">
                <a:latin typeface="Century Gothic" panose="020B0502020202020204" pitchFamily="34" charset="0"/>
              </a:rPr>
              <a:t> la solution qui </a:t>
            </a:r>
            <a:r>
              <a:rPr lang="en-US" sz="3200" dirty="0" err="1">
                <a:latin typeface="Century Gothic" panose="020B0502020202020204" pitchFamily="34" charset="0"/>
              </a:rPr>
              <a:t>va</a:t>
            </a:r>
            <a:r>
              <a:rPr lang="en-US" sz="3200" dirty="0"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latin typeface="Century Gothic" panose="020B0502020202020204" pitchFamily="34" charset="0"/>
              </a:rPr>
              <a:t>être</a:t>
            </a:r>
            <a:r>
              <a:rPr lang="en-US" sz="3200" dirty="0"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latin typeface="Century Gothic" panose="020B0502020202020204" pitchFamily="34" charset="0"/>
              </a:rPr>
              <a:t>appliquée</a:t>
            </a:r>
            <a:r>
              <a:rPr lang="en-US" sz="3200" dirty="0">
                <a:latin typeface="Century Gothic" panose="020B0502020202020204" pitchFamily="34" charset="0"/>
              </a:rPr>
              <a:t> à </a:t>
            </a:r>
            <a:r>
              <a:rPr lang="en-US" sz="3200" dirty="0" err="1">
                <a:latin typeface="Century Gothic" panose="020B0502020202020204" pitchFamily="34" charset="0"/>
              </a:rPr>
              <a:t>l’utilisateut</a:t>
            </a:r>
            <a:r>
              <a:rPr lang="en-US" sz="3200" dirty="0">
                <a:latin typeface="Century Gothic" panose="020B0502020202020204" pitchFamily="34" charset="0"/>
              </a:rPr>
              <a:t> finale.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69D90-62FA-49B2-981E-5305361D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2370" y="4592474"/>
            <a:ext cx="1128382" cy="847206"/>
            <a:chOff x="8183879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81E6897-9689-4C48-ADC3-9F41AAE3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04E145C-C4EA-4DED-B029-22B811FC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66832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6498A647DD2B4DA6B8922774BD344A" ma:contentTypeVersion="6" ma:contentTypeDescription="Create a new document." ma:contentTypeScope="" ma:versionID="8676bb2c9f82a20b5bce6049ed78871f">
  <xsd:schema xmlns:xsd="http://www.w3.org/2001/XMLSchema" xmlns:xs="http://www.w3.org/2001/XMLSchema" xmlns:p="http://schemas.microsoft.com/office/2006/metadata/properties" xmlns:ns3="80793a12-e2c8-47c8-a454-5d7527b2068f" targetNamespace="http://schemas.microsoft.com/office/2006/metadata/properties" ma:root="true" ma:fieldsID="8579b112895bc8c35e06dda9007869a5" ns3:_="">
    <xsd:import namespace="80793a12-e2c8-47c8-a454-5d7527b206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93a12-e2c8-47c8-a454-5d7527b206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8573BB-D82E-45FB-B861-45679E5BDF4B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0793a12-e2c8-47c8-a454-5d7527b2068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37B517-511D-4794-9C66-802E17F784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3B4B6E-BB2B-4EE4-ADED-DCFE4B945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793a12-e2c8-47c8-a454-5d7527b206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158</Words>
  <Application>Microsoft Office PowerPoint</Application>
  <PresentationFormat>Grand écran</PresentationFormat>
  <Paragraphs>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Bauhaus 93</vt:lpstr>
      <vt:lpstr>Calibri</vt:lpstr>
      <vt:lpstr>Calibri Light</vt:lpstr>
      <vt:lpstr>Century Gothic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Soddy Amouna</dc:creator>
  <cp:lastModifiedBy>Soddy Amouna</cp:lastModifiedBy>
  <cp:revision>5</cp:revision>
  <dcterms:created xsi:type="dcterms:W3CDTF">2020-02-20T09:39:18Z</dcterms:created>
  <dcterms:modified xsi:type="dcterms:W3CDTF">2020-02-20T09:56:41Z</dcterms:modified>
</cp:coreProperties>
</file>