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7"/>
    <p:sldMasterId id="2147483662" r:id="rId8"/>
  </p:sldMasterIdLst>
  <p:notesMasterIdLst>
    <p:notesMasterId r:id="rId20"/>
  </p:notesMasterIdLst>
  <p:sldIdLst>
    <p:sldId id="289" r:id="rId9"/>
    <p:sldId id="259" r:id="rId10"/>
    <p:sldId id="266" r:id="rId11"/>
    <p:sldId id="282" r:id="rId12"/>
    <p:sldId id="283" r:id="rId13"/>
    <p:sldId id="284" r:id="rId14"/>
    <p:sldId id="285" r:id="rId15"/>
    <p:sldId id="286" r:id="rId16"/>
    <p:sldId id="287" r:id="rId17"/>
    <p:sldId id="288" r:id="rId18"/>
    <p:sldId id="281" r:id="rId19"/>
  </p:sldIdLst>
  <p:sldSz cx="9144000" cy="5143500" type="screen16x9"/>
  <p:notesSz cx="6954838" cy="9240838"/>
  <p:embeddedFontLst>
    <p:embeddedFont>
      <p:font typeface="Calibri" panose="020F0502020204030204" pitchFamily="34" charset="0"/>
      <p:regular r:id="rId21"/>
      <p:bold r:id="rId22"/>
      <p:italic r:id="rId23"/>
      <p:boldItalic r:id="rId24"/>
    </p:embeddedFont>
    <p:embeddedFont>
      <p:font typeface="Lato" panose="020B0604020202020204" charset="0"/>
      <p:regular r:id="rId25"/>
      <p:bold r:id="rId26"/>
      <p:italic r:id="rId27"/>
      <p:boldItalic r:id="rId28"/>
    </p:embeddedFont>
    <p:embeddedFont>
      <p:font typeface="Montserrat" panose="020B0604020202020204" charset="0"/>
      <p:regular r:id="rId29"/>
      <p:bold r:id="rId30"/>
      <p:italic r:id="rId31"/>
      <p:boldItalic r:id="rId32"/>
    </p:embeddedFont>
    <p:embeddedFont>
      <p:font typeface="Montserrat Black" panose="020B0604020202020204" charset="0"/>
      <p:bold r:id="rId33"/>
      <p:boldItalic r:id="rId34"/>
    </p:embeddedFont>
    <p:embeddedFont>
      <p:font typeface="Montserrat Light"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49" roundtripDataSignature="AMtx7mjJnCLKSI8uGTkraH4P4RMWJphLO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herine Crisp" initials="" lastIdx="2" clrIdx="0"/>
  <p:cmAuthor id="1" name="Hana Sahatqija"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E618E4-C2AF-4793-B0E2-B16F11676E76}" v="3" dt="2021-09-17T11:56:10.046"/>
  </p1510:revLst>
</p1510:revInfo>
</file>

<file path=ppt/tableStyles.xml><?xml version="1.0" encoding="utf-8"?>
<a:tblStyleLst xmlns:a="http://schemas.openxmlformats.org/drawingml/2006/main" def="{25A5DC59-2239-4C14-8876-1A56867A4B28}">
  <a:tblStyle styleId="{25A5DC59-2239-4C14-8876-1A56867A4B28}"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varScale="1">
        <p:scale>
          <a:sx n="187" d="100"/>
          <a:sy n="187" d="100"/>
        </p:scale>
        <p:origin x="162" y="6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Master" Target="slideMasters/slideMaster1.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53"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customschemas.google.com/relationships/presentationmetadata" Target="metadata"/><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font" Target="fonts/font11.fntdata"/><Relationship Id="rId52"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56" Type="http://schemas.microsoft.com/office/2015/10/relationships/revisionInfo" Target="revisionInfo.xml"/><Relationship Id="rId8" Type="http://schemas.openxmlformats.org/officeDocument/2006/relationships/slideMaster" Target="slideMasters/slideMaster2.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20" Type="http://schemas.openxmlformats.org/officeDocument/2006/relationships/notesMaster" Target="notesMasters/notesMaster1.xml"/><Relationship Id="rId5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 Junior Niyonkuru" userId="bf37ad57-adb8-4656-a154-b4f1eed3c441" providerId="ADAL" clId="{5DE618E4-C2AF-4793-B0E2-B16F11676E76}"/>
    <pc:docChg chg="undo custSel addSld delSld modSld">
      <pc:chgData name="Jean Junior Niyonkuru" userId="bf37ad57-adb8-4656-a154-b4f1eed3c441" providerId="ADAL" clId="{5DE618E4-C2AF-4793-B0E2-B16F11676E76}" dt="2021-09-17T11:56:46.518" v="323" actId="47"/>
      <pc:docMkLst>
        <pc:docMk/>
      </pc:docMkLst>
      <pc:sldChg chg="del">
        <pc:chgData name="Jean Junior Niyonkuru" userId="bf37ad57-adb8-4656-a154-b4f1eed3c441" providerId="ADAL" clId="{5DE618E4-C2AF-4793-B0E2-B16F11676E76}" dt="2021-09-17T11:56:46.518" v="323" actId="47"/>
        <pc:sldMkLst>
          <pc:docMk/>
          <pc:sldMk cId="0" sldId="256"/>
        </pc:sldMkLst>
      </pc:sldChg>
      <pc:sldChg chg="modSp mod">
        <pc:chgData name="Jean Junior Niyonkuru" userId="bf37ad57-adb8-4656-a154-b4f1eed3c441" providerId="ADAL" clId="{5DE618E4-C2AF-4793-B0E2-B16F11676E76}" dt="2021-09-17T11:25:12.759" v="42" actId="20577"/>
        <pc:sldMkLst>
          <pc:docMk/>
          <pc:sldMk cId="0" sldId="259"/>
        </pc:sldMkLst>
        <pc:spChg chg="mod">
          <ac:chgData name="Jean Junior Niyonkuru" userId="bf37ad57-adb8-4656-a154-b4f1eed3c441" providerId="ADAL" clId="{5DE618E4-C2AF-4793-B0E2-B16F11676E76}" dt="2021-09-17T11:25:12.759" v="42" actId="20577"/>
          <ac:spMkLst>
            <pc:docMk/>
            <pc:sldMk cId="0" sldId="259"/>
            <ac:spMk id="208" creationId="{00000000-0000-0000-0000-000000000000}"/>
          </ac:spMkLst>
        </pc:spChg>
      </pc:sldChg>
      <pc:sldChg chg="modSp mod">
        <pc:chgData name="Jean Junior Niyonkuru" userId="bf37ad57-adb8-4656-a154-b4f1eed3c441" providerId="ADAL" clId="{5DE618E4-C2AF-4793-B0E2-B16F11676E76}" dt="2021-09-17T11:27:10.044" v="62" actId="20577"/>
        <pc:sldMkLst>
          <pc:docMk/>
          <pc:sldMk cId="0" sldId="266"/>
        </pc:sldMkLst>
        <pc:spChg chg="mod">
          <ac:chgData name="Jean Junior Niyonkuru" userId="bf37ad57-adb8-4656-a154-b4f1eed3c441" providerId="ADAL" clId="{5DE618E4-C2AF-4793-B0E2-B16F11676E76}" dt="2021-09-17T11:27:10.044" v="62" actId="20577"/>
          <ac:spMkLst>
            <pc:docMk/>
            <pc:sldMk cId="0" sldId="266"/>
            <ac:spMk id="266" creationId="{00000000-0000-0000-0000-000000000000}"/>
          </ac:spMkLst>
        </pc:spChg>
      </pc:sldChg>
      <pc:sldChg chg="del">
        <pc:chgData name="Jean Junior Niyonkuru" userId="bf37ad57-adb8-4656-a154-b4f1eed3c441" providerId="ADAL" clId="{5DE618E4-C2AF-4793-B0E2-B16F11676E76}" dt="2021-09-17T11:40:54.702" v="211" actId="47"/>
        <pc:sldMkLst>
          <pc:docMk/>
          <pc:sldMk cId="0" sldId="269"/>
        </pc:sldMkLst>
      </pc:sldChg>
      <pc:sldChg chg="modSp mod">
        <pc:chgData name="Jean Junior Niyonkuru" userId="bf37ad57-adb8-4656-a154-b4f1eed3c441" providerId="ADAL" clId="{5DE618E4-C2AF-4793-B0E2-B16F11676E76}" dt="2021-09-17T11:29:49.401" v="105" actId="20577"/>
        <pc:sldMkLst>
          <pc:docMk/>
          <pc:sldMk cId="2551152687" sldId="282"/>
        </pc:sldMkLst>
        <pc:spChg chg="mod">
          <ac:chgData name="Jean Junior Niyonkuru" userId="bf37ad57-adb8-4656-a154-b4f1eed3c441" providerId="ADAL" clId="{5DE618E4-C2AF-4793-B0E2-B16F11676E76}" dt="2021-09-17T11:29:49.401" v="105" actId="20577"/>
          <ac:spMkLst>
            <pc:docMk/>
            <pc:sldMk cId="2551152687" sldId="282"/>
            <ac:spMk id="263" creationId="{00000000-0000-0000-0000-000000000000}"/>
          </ac:spMkLst>
        </pc:spChg>
      </pc:sldChg>
      <pc:sldChg chg="modSp mod">
        <pc:chgData name="Jean Junior Niyonkuru" userId="bf37ad57-adb8-4656-a154-b4f1eed3c441" providerId="ADAL" clId="{5DE618E4-C2AF-4793-B0E2-B16F11676E76}" dt="2021-09-17T11:33:04.221" v="154" actId="20577"/>
        <pc:sldMkLst>
          <pc:docMk/>
          <pc:sldMk cId="1071001569" sldId="284"/>
        </pc:sldMkLst>
        <pc:spChg chg="mod">
          <ac:chgData name="Jean Junior Niyonkuru" userId="bf37ad57-adb8-4656-a154-b4f1eed3c441" providerId="ADAL" clId="{5DE618E4-C2AF-4793-B0E2-B16F11676E76}" dt="2021-09-17T11:33:04.221" v="154" actId="20577"/>
          <ac:spMkLst>
            <pc:docMk/>
            <pc:sldMk cId="1071001569" sldId="284"/>
            <ac:spMk id="266" creationId="{00000000-0000-0000-0000-000000000000}"/>
          </ac:spMkLst>
        </pc:spChg>
      </pc:sldChg>
      <pc:sldChg chg="modSp mod">
        <pc:chgData name="Jean Junior Niyonkuru" userId="bf37ad57-adb8-4656-a154-b4f1eed3c441" providerId="ADAL" clId="{5DE618E4-C2AF-4793-B0E2-B16F11676E76}" dt="2021-09-17T11:39:50.666" v="185" actId="20577"/>
        <pc:sldMkLst>
          <pc:docMk/>
          <pc:sldMk cId="3177984182" sldId="286"/>
        </pc:sldMkLst>
        <pc:spChg chg="mod">
          <ac:chgData name="Jean Junior Niyonkuru" userId="bf37ad57-adb8-4656-a154-b4f1eed3c441" providerId="ADAL" clId="{5DE618E4-C2AF-4793-B0E2-B16F11676E76}" dt="2021-09-17T11:39:50.666" v="185" actId="20577"/>
          <ac:spMkLst>
            <pc:docMk/>
            <pc:sldMk cId="3177984182" sldId="286"/>
            <ac:spMk id="263" creationId="{00000000-0000-0000-0000-000000000000}"/>
          </ac:spMkLst>
        </pc:spChg>
        <pc:spChg chg="mod">
          <ac:chgData name="Jean Junior Niyonkuru" userId="bf37ad57-adb8-4656-a154-b4f1eed3c441" providerId="ADAL" clId="{5DE618E4-C2AF-4793-B0E2-B16F11676E76}" dt="2021-09-17T11:39:46.385" v="184" actId="20577"/>
          <ac:spMkLst>
            <pc:docMk/>
            <pc:sldMk cId="3177984182" sldId="286"/>
            <ac:spMk id="266" creationId="{00000000-0000-0000-0000-000000000000}"/>
          </ac:spMkLst>
        </pc:spChg>
      </pc:sldChg>
      <pc:sldChg chg="modSp mod">
        <pc:chgData name="Jean Junior Niyonkuru" userId="bf37ad57-adb8-4656-a154-b4f1eed3c441" providerId="ADAL" clId="{5DE618E4-C2AF-4793-B0E2-B16F11676E76}" dt="2021-09-17T11:40:10.190" v="197" actId="20577"/>
        <pc:sldMkLst>
          <pc:docMk/>
          <pc:sldMk cId="292219814" sldId="287"/>
        </pc:sldMkLst>
        <pc:spChg chg="mod">
          <ac:chgData name="Jean Junior Niyonkuru" userId="bf37ad57-adb8-4656-a154-b4f1eed3c441" providerId="ADAL" clId="{5DE618E4-C2AF-4793-B0E2-B16F11676E76}" dt="2021-09-17T11:40:10.190" v="197" actId="20577"/>
          <ac:spMkLst>
            <pc:docMk/>
            <pc:sldMk cId="292219814" sldId="287"/>
            <ac:spMk id="266" creationId="{00000000-0000-0000-0000-000000000000}"/>
          </ac:spMkLst>
        </pc:spChg>
      </pc:sldChg>
      <pc:sldChg chg="modSp mod">
        <pc:chgData name="Jean Junior Niyonkuru" userId="bf37ad57-adb8-4656-a154-b4f1eed3c441" providerId="ADAL" clId="{5DE618E4-C2AF-4793-B0E2-B16F11676E76}" dt="2021-09-17T11:40:44.052" v="210" actId="20577"/>
        <pc:sldMkLst>
          <pc:docMk/>
          <pc:sldMk cId="65929905" sldId="288"/>
        </pc:sldMkLst>
        <pc:spChg chg="mod">
          <ac:chgData name="Jean Junior Niyonkuru" userId="bf37ad57-adb8-4656-a154-b4f1eed3c441" providerId="ADAL" clId="{5DE618E4-C2AF-4793-B0E2-B16F11676E76}" dt="2021-09-17T11:40:44.052" v="210" actId="20577"/>
          <ac:spMkLst>
            <pc:docMk/>
            <pc:sldMk cId="65929905" sldId="288"/>
            <ac:spMk id="266" creationId="{00000000-0000-0000-0000-000000000000}"/>
          </ac:spMkLst>
        </pc:spChg>
      </pc:sldChg>
      <pc:sldChg chg="modSp add mod setBg">
        <pc:chgData name="Jean Junior Niyonkuru" userId="bf37ad57-adb8-4656-a154-b4f1eed3c441" providerId="ADAL" clId="{5DE618E4-C2AF-4793-B0E2-B16F11676E76}" dt="2021-09-17T11:56:10.046" v="322"/>
        <pc:sldMkLst>
          <pc:docMk/>
          <pc:sldMk cId="209353693" sldId="289"/>
        </pc:sldMkLst>
        <pc:spChg chg="mod">
          <ac:chgData name="Jean Junior Niyonkuru" userId="bf37ad57-adb8-4656-a154-b4f1eed3c441" providerId="ADAL" clId="{5DE618E4-C2AF-4793-B0E2-B16F11676E76}" dt="2021-09-17T11:41:19.475" v="239" actId="20577"/>
          <ac:spMkLst>
            <pc:docMk/>
            <pc:sldMk cId="209353693" sldId="289"/>
            <ac:spMk id="207" creationId="{00000000-0000-0000-0000-000000000000}"/>
          </ac:spMkLst>
        </pc:spChg>
        <pc:spChg chg="mod">
          <ac:chgData name="Jean Junior Niyonkuru" userId="bf37ad57-adb8-4656-a154-b4f1eed3c441" providerId="ADAL" clId="{5DE618E4-C2AF-4793-B0E2-B16F11676E76}" dt="2021-09-17T11:55:42.767" v="320" actId="20577"/>
          <ac:spMkLst>
            <pc:docMk/>
            <pc:sldMk cId="209353693" sldId="289"/>
            <ac:spMk id="208" creationId="{00000000-0000-0000-0000-000000000000}"/>
          </ac:spMkLst>
        </pc:spChg>
      </pc:sldChg>
      <pc:sldMasterChg chg="delSldLayout">
        <pc:chgData name="Jean Junior Niyonkuru" userId="bf37ad57-adb8-4656-a154-b4f1eed3c441" providerId="ADAL" clId="{5DE618E4-C2AF-4793-B0E2-B16F11676E76}" dt="2021-09-17T11:56:46.518" v="323" actId="47"/>
        <pc:sldMasterMkLst>
          <pc:docMk/>
          <pc:sldMasterMk cId="0" sldId="2147483648"/>
        </pc:sldMasterMkLst>
        <pc:sldLayoutChg chg="del">
          <pc:chgData name="Jean Junior Niyonkuru" userId="bf37ad57-adb8-4656-a154-b4f1eed3c441" providerId="ADAL" clId="{5DE618E4-C2AF-4793-B0E2-B16F11676E76}" dt="2021-09-17T11:56:46.518" v="323" actId="47"/>
          <pc:sldLayoutMkLst>
            <pc:docMk/>
            <pc:sldMasterMk cId="0" sldId="2147483648"/>
            <pc:sldLayoutMk cId="0" sldId="2147483649"/>
          </pc:sldLayoutMkLst>
        </pc:sldLayoutChg>
        <pc:sldLayoutChg chg="del">
          <pc:chgData name="Jean Junior Niyonkuru" userId="bf37ad57-adb8-4656-a154-b4f1eed3c441" providerId="ADAL" clId="{5DE618E4-C2AF-4793-B0E2-B16F11676E76}" dt="2021-09-17T11:40:54.702" v="211" actId="47"/>
          <pc:sldLayoutMkLst>
            <pc:docMk/>
            <pc:sldMasterMk cId="0" sldId="2147483648"/>
            <pc:sldLayoutMk cId="4029545415" sldId="214748367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98463" y="693738"/>
            <a:ext cx="6159500"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4:notes"/>
          <p:cNvSpPr txBox="1">
            <a:spLocks noGrp="1"/>
          </p:cNvSpPr>
          <p:nvPr>
            <p:ph type="body" idx="1"/>
          </p:nvPr>
        </p:nvSpPr>
        <p:spPr>
          <a:xfrm>
            <a:off x="927312" y="4389398"/>
            <a:ext cx="5100215" cy="4158377"/>
          </a:xfrm>
          <a:prstGeom prst="rect">
            <a:avLst/>
          </a:prstGeom>
          <a:noFill/>
          <a:ln>
            <a:noFill/>
          </a:ln>
        </p:spPr>
        <p:txBody>
          <a:bodyPr spcFirstLastPara="1" wrap="square" lIns="92531" tIns="46253" rIns="92531" bIns="46253" anchor="t" anchorCtr="0">
            <a:noAutofit/>
          </a:bodyPr>
          <a:lstStyle/>
          <a:p>
            <a:pPr marL="0" indent="0">
              <a:buSzPts val="1400"/>
              <a:buNone/>
            </a:pPr>
            <a:endParaRPr/>
          </a:p>
        </p:txBody>
      </p:sp>
      <p:sp>
        <p:nvSpPr>
          <p:cNvPr id="205" name="Google Shape;205;p4: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348248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4:notes"/>
          <p:cNvSpPr txBox="1">
            <a:spLocks noGrp="1"/>
          </p:cNvSpPr>
          <p:nvPr>
            <p:ph type="body" idx="1"/>
          </p:nvPr>
        </p:nvSpPr>
        <p:spPr>
          <a:xfrm>
            <a:off x="927312" y="4389398"/>
            <a:ext cx="5100215" cy="4158377"/>
          </a:xfrm>
          <a:prstGeom prst="rect">
            <a:avLst/>
          </a:prstGeom>
          <a:noFill/>
          <a:ln>
            <a:noFill/>
          </a:ln>
        </p:spPr>
        <p:txBody>
          <a:bodyPr spcFirstLastPara="1" wrap="square" lIns="92531" tIns="46253" rIns="92531" bIns="46253" anchor="t" anchorCtr="0">
            <a:noAutofit/>
          </a:bodyPr>
          <a:lstStyle/>
          <a:p>
            <a:pPr marL="0" indent="0">
              <a:buSzPts val="1400"/>
              <a:buNone/>
            </a:pPr>
            <a:endParaRPr/>
          </a:p>
        </p:txBody>
      </p:sp>
      <p:sp>
        <p:nvSpPr>
          <p:cNvPr id="205" name="Google Shape;205;p4: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r>
              <a:rPr lang="fr-FR" dirty="0"/>
              <a:t>Un MVP (Minimum Viable Product) ou MVP (Produit minimum Viable en français) est défini comme la version d'un nouveau produit qui permet à une équipe de recueillir le maximum d'informations valides sur les clients avec le minimum d'efforts. MVP est un concept qui souligne l'impact de l'apprentissage dans le développement de nouveaux produits.</a:t>
            </a:r>
          </a:p>
          <a:p>
            <a:pPr marL="0" indent="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3838322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216698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3038561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1424722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4171942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148561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p19:notes"/>
          <p:cNvSpPr txBox="1">
            <a:spLocks noGrp="1"/>
          </p:cNvSpPr>
          <p:nvPr>
            <p:ph type="body" idx="1"/>
          </p:nvPr>
        </p:nvSpPr>
        <p:spPr>
          <a:xfrm>
            <a:off x="695484" y="4389398"/>
            <a:ext cx="5563870" cy="4158377"/>
          </a:xfrm>
          <a:prstGeom prst="rect">
            <a:avLst/>
          </a:prstGeom>
          <a:noFill/>
          <a:ln>
            <a:noFill/>
          </a:ln>
        </p:spPr>
        <p:txBody>
          <a:bodyPr spcFirstLastPara="1" wrap="square" lIns="92531" tIns="92531" rIns="92531" bIns="92531" anchor="t" anchorCtr="0">
            <a:noAutofit/>
          </a:bodyPr>
          <a:lstStyle/>
          <a:p>
            <a:pPr marL="0" indent="0">
              <a:buNone/>
            </a:pPr>
            <a:endParaRPr/>
          </a:p>
        </p:txBody>
      </p:sp>
    </p:spTree>
    <p:extLst>
      <p:ext uri="{BB962C8B-B14F-4D97-AF65-F5344CB8AC3E}">
        <p14:creationId xmlns:p14="http://schemas.microsoft.com/office/powerpoint/2010/main" val="1618576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25:notes"/>
          <p:cNvSpPr txBox="1">
            <a:spLocks noGrp="1"/>
          </p:cNvSpPr>
          <p:nvPr>
            <p:ph type="body" idx="1"/>
          </p:nvPr>
        </p:nvSpPr>
        <p:spPr>
          <a:xfrm>
            <a:off x="927312" y="4389398"/>
            <a:ext cx="5100215" cy="4158377"/>
          </a:xfrm>
          <a:prstGeom prst="rect">
            <a:avLst/>
          </a:prstGeom>
          <a:noFill/>
          <a:ln>
            <a:noFill/>
          </a:ln>
        </p:spPr>
        <p:txBody>
          <a:bodyPr spcFirstLastPara="1" wrap="square" lIns="92531" tIns="46253" rIns="92531" bIns="46253" anchor="t" anchorCtr="0">
            <a:noAutofit/>
          </a:bodyPr>
          <a:lstStyle/>
          <a:p>
            <a:pPr marL="0" indent="0">
              <a:buSzPts val="1400"/>
              <a:buNone/>
            </a:pPr>
            <a:endParaRPr/>
          </a:p>
        </p:txBody>
      </p:sp>
      <p:sp>
        <p:nvSpPr>
          <p:cNvPr id="394" name="Google Shape;394;p25:notes"/>
          <p:cNvSpPr>
            <a:spLocks noGrp="1" noRot="1" noChangeAspect="1"/>
          </p:cNvSpPr>
          <p:nvPr>
            <p:ph type="sldImg" idx="2"/>
          </p:nvPr>
        </p:nvSpPr>
        <p:spPr>
          <a:xfrm>
            <a:off x="398463" y="693738"/>
            <a:ext cx="6157912" cy="34639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1">
  <p:cSld name="Slide 1">
    <p:spTree>
      <p:nvGrpSpPr>
        <p:cNvPr id="1" name="Shape 18"/>
        <p:cNvGrpSpPr/>
        <p:nvPr/>
      </p:nvGrpSpPr>
      <p:grpSpPr>
        <a:xfrm>
          <a:off x="0" y="0"/>
          <a:ext cx="0" cy="0"/>
          <a:chOff x="0" y="0"/>
          <a:chExt cx="0" cy="0"/>
        </a:xfrm>
      </p:grpSpPr>
      <p:sp>
        <p:nvSpPr>
          <p:cNvPr id="19" name="Google Shape;19;p29"/>
          <p:cNvSpPr txBox="1"/>
          <p:nvPr/>
        </p:nvSpPr>
        <p:spPr>
          <a:xfrm>
            <a:off x="7297025" y="4817987"/>
            <a:ext cx="1584900" cy="10772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000000"/>
              </a:buClr>
              <a:buSzPts val="700"/>
              <a:buFont typeface="Montserrat Light"/>
              <a:buNone/>
            </a:pPr>
            <a:r>
              <a:rPr lang="en-US" sz="700" b="0" i="0" u="none" strike="noStrike" cap="none">
                <a:solidFill>
                  <a:srgbClr val="000000"/>
                </a:solidFill>
                <a:latin typeface="Montserrat Light"/>
                <a:ea typeface="Montserrat Light"/>
                <a:cs typeface="Montserrat Light"/>
                <a:sym typeface="Montserrat Light"/>
              </a:rPr>
              <a:t> </a:t>
            </a:r>
            <a:r>
              <a:rPr lang="en-US" sz="700" b="0" i="0" u="none" strike="noStrike" cap="none">
                <a:solidFill>
                  <a:srgbClr val="000000"/>
                </a:solidFill>
                <a:latin typeface="Montserrat Black"/>
                <a:ea typeface="Montserrat Black"/>
                <a:cs typeface="Montserrat Black"/>
                <a:sym typeface="Montserrat Black"/>
              </a:rPr>
              <a:t>/</a:t>
            </a:r>
            <a:r>
              <a:rPr lang="en-US" sz="700" b="1" i="0" u="none" strike="noStrike" cap="none">
                <a:solidFill>
                  <a:srgbClr val="000000"/>
                </a:solidFill>
                <a:latin typeface="Montserrat"/>
                <a:ea typeface="Montserrat"/>
                <a:cs typeface="Montserrat"/>
                <a:sym typeface="Montserrat"/>
              </a:rPr>
              <a:t> </a:t>
            </a:r>
            <a:r>
              <a:rPr lang="en-US" sz="700" b="0" i="0" u="none" strike="noStrike" cap="none">
                <a:solidFill>
                  <a:srgbClr val="000000"/>
                </a:solidFill>
                <a:latin typeface="Montserrat Light"/>
                <a:ea typeface="Montserrat Light"/>
                <a:cs typeface="Montserrat Light"/>
                <a:sym typeface="Montserrat Light"/>
              </a:rPr>
              <a:t> BOOTCAMP WEBINAR</a:t>
            </a:r>
            <a:endParaRPr sz="1400" b="0" i="0" u="none" strike="noStrike" cap="none">
              <a:solidFill>
                <a:srgbClr val="000000"/>
              </a:solidFill>
              <a:latin typeface="Arial"/>
              <a:ea typeface="Arial"/>
              <a:cs typeface="Arial"/>
              <a:sym typeface="Arial"/>
            </a:endParaRPr>
          </a:p>
        </p:txBody>
      </p:sp>
      <p:sp>
        <p:nvSpPr>
          <p:cNvPr id="20" name="Google Shape;20;p29"/>
          <p:cNvSpPr txBox="1"/>
          <p:nvPr/>
        </p:nvSpPr>
        <p:spPr>
          <a:xfrm>
            <a:off x="356562" y="4817987"/>
            <a:ext cx="1023405" cy="12700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700"/>
              <a:buFont typeface="Montserrat"/>
              <a:buNone/>
            </a:pPr>
            <a:r>
              <a:rPr lang="en-US" sz="700" b="1" i="0" u="none" strike="noStrike" cap="none">
                <a:solidFill>
                  <a:srgbClr val="000000"/>
                </a:solidFill>
                <a:latin typeface="Montserrat"/>
                <a:ea typeface="Montserrat"/>
                <a:cs typeface="Montserrat"/>
                <a:sym typeface="Montserrat"/>
              </a:rPr>
              <a:t> YOUTH CHALLENGE /</a:t>
            </a:r>
            <a:endParaRPr sz="1400" b="0" i="0" u="none" strike="noStrike" cap="none">
              <a:solidFill>
                <a:srgbClr val="000000"/>
              </a:solidFill>
              <a:latin typeface="Arial"/>
              <a:ea typeface="Arial"/>
              <a:cs typeface="Arial"/>
              <a:sym typeface="Arial"/>
            </a:endParaRPr>
          </a:p>
        </p:txBody>
      </p:sp>
      <p:sp>
        <p:nvSpPr>
          <p:cNvPr id="21" name="Google Shape;21;p29"/>
          <p:cNvSpPr txBox="1"/>
          <p:nvPr/>
        </p:nvSpPr>
        <p:spPr>
          <a:xfrm>
            <a:off x="1428507" y="4786237"/>
            <a:ext cx="215901" cy="190501"/>
          </a:xfrm>
          <a:prstGeom prst="rect">
            <a:avLst/>
          </a:prstGeom>
          <a:noFill/>
          <a:ln w="19050"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Montserrat"/>
              <a:buNone/>
            </a:pPr>
            <a:r>
              <a:rPr lang="en-US" sz="800" b="1" i="0" u="none" strike="noStrike" cap="none">
                <a:solidFill>
                  <a:srgbClr val="000000"/>
                </a:solidFill>
                <a:latin typeface="Montserrat"/>
                <a:ea typeface="Montserrat"/>
                <a:cs typeface="Montserrat"/>
                <a:sym typeface="Montserrat"/>
              </a:rPr>
              <a:t>2.0</a:t>
            </a:r>
            <a:endParaRPr sz="1400" b="0" i="0" u="none" strike="noStrike" cap="none">
              <a:solidFill>
                <a:srgbClr val="000000"/>
              </a:solidFill>
              <a:latin typeface="Arial"/>
              <a:ea typeface="Arial"/>
              <a:cs typeface="Arial"/>
              <a:sym typeface="Arial"/>
            </a:endParaRPr>
          </a:p>
        </p:txBody>
      </p:sp>
      <p:sp>
        <p:nvSpPr>
          <p:cNvPr id="22" name="Google Shape;22;p29"/>
          <p:cNvSpPr txBox="1">
            <a:spLocks noGrp="1"/>
          </p:cNvSpPr>
          <p:nvPr>
            <p:ph type="title"/>
          </p:nvPr>
        </p:nvSpPr>
        <p:spPr>
          <a:xfrm>
            <a:off x="457200" y="406400"/>
            <a:ext cx="6667500" cy="968772"/>
          </a:xfrm>
          <a:prstGeom prst="rect">
            <a:avLst/>
          </a:prstGeom>
          <a:noFill/>
          <a:ln>
            <a:noFill/>
          </a:ln>
        </p:spPr>
        <p:txBody>
          <a:bodyPr spcFirstLastPara="1" wrap="square" lIns="91400" tIns="91400" rIns="91400" bIns="91400" anchor="t" anchorCtr="0">
            <a:noAutofit/>
          </a:bodyPr>
          <a:lstStyle>
            <a:lvl1pPr lvl="0" algn="l">
              <a:lnSpc>
                <a:spcPct val="100000"/>
              </a:lnSpc>
              <a:spcBef>
                <a:spcPts val="0"/>
              </a:spcBef>
              <a:spcAft>
                <a:spcPts val="0"/>
              </a:spcAft>
              <a:buClr>
                <a:srgbClr val="182A2E"/>
              </a:buClr>
              <a:buSzPts val="1800"/>
              <a:buNone/>
              <a:defRPr/>
            </a:lvl1pPr>
            <a:lvl2pPr lvl="1" algn="l">
              <a:lnSpc>
                <a:spcPct val="100000"/>
              </a:lnSpc>
              <a:spcBef>
                <a:spcPts val="0"/>
              </a:spcBef>
              <a:spcAft>
                <a:spcPts val="0"/>
              </a:spcAft>
              <a:buClr>
                <a:srgbClr val="182A2E"/>
              </a:buClr>
              <a:buSzPts val="1800"/>
              <a:buNone/>
              <a:defRPr/>
            </a:lvl2pPr>
            <a:lvl3pPr lvl="2" algn="l">
              <a:lnSpc>
                <a:spcPct val="100000"/>
              </a:lnSpc>
              <a:spcBef>
                <a:spcPts val="0"/>
              </a:spcBef>
              <a:spcAft>
                <a:spcPts val="0"/>
              </a:spcAft>
              <a:buClr>
                <a:srgbClr val="182A2E"/>
              </a:buClr>
              <a:buSzPts val="1800"/>
              <a:buNone/>
              <a:defRPr/>
            </a:lvl3pPr>
            <a:lvl4pPr lvl="3" algn="l">
              <a:lnSpc>
                <a:spcPct val="100000"/>
              </a:lnSpc>
              <a:spcBef>
                <a:spcPts val="0"/>
              </a:spcBef>
              <a:spcAft>
                <a:spcPts val="0"/>
              </a:spcAft>
              <a:buClr>
                <a:srgbClr val="182A2E"/>
              </a:buClr>
              <a:buSzPts val="1800"/>
              <a:buNone/>
              <a:defRPr/>
            </a:lvl4pPr>
            <a:lvl5pPr lvl="4" algn="l">
              <a:lnSpc>
                <a:spcPct val="100000"/>
              </a:lnSpc>
              <a:spcBef>
                <a:spcPts val="0"/>
              </a:spcBef>
              <a:spcAft>
                <a:spcPts val="0"/>
              </a:spcAft>
              <a:buClr>
                <a:srgbClr val="182A2E"/>
              </a:buClr>
              <a:buSzPts val="1800"/>
              <a:buNone/>
              <a:defRPr/>
            </a:lvl5pPr>
            <a:lvl6pPr lvl="5" algn="l">
              <a:lnSpc>
                <a:spcPct val="100000"/>
              </a:lnSpc>
              <a:spcBef>
                <a:spcPts val="0"/>
              </a:spcBef>
              <a:spcAft>
                <a:spcPts val="0"/>
              </a:spcAft>
              <a:buClr>
                <a:srgbClr val="182A2E"/>
              </a:buClr>
              <a:buSzPts val="1800"/>
              <a:buNone/>
              <a:defRPr/>
            </a:lvl6pPr>
            <a:lvl7pPr lvl="6" algn="l">
              <a:lnSpc>
                <a:spcPct val="100000"/>
              </a:lnSpc>
              <a:spcBef>
                <a:spcPts val="0"/>
              </a:spcBef>
              <a:spcAft>
                <a:spcPts val="0"/>
              </a:spcAft>
              <a:buClr>
                <a:srgbClr val="182A2E"/>
              </a:buClr>
              <a:buSzPts val="1800"/>
              <a:buNone/>
              <a:defRPr/>
            </a:lvl7pPr>
            <a:lvl8pPr lvl="7" algn="l">
              <a:lnSpc>
                <a:spcPct val="100000"/>
              </a:lnSpc>
              <a:spcBef>
                <a:spcPts val="0"/>
              </a:spcBef>
              <a:spcAft>
                <a:spcPts val="0"/>
              </a:spcAft>
              <a:buClr>
                <a:srgbClr val="182A2E"/>
              </a:buClr>
              <a:buSzPts val="1800"/>
              <a:buNone/>
              <a:defRPr/>
            </a:lvl8pPr>
            <a:lvl9pPr lvl="8" algn="l">
              <a:lnSpc>
                <a:spcPct val="100000"/>
              </a:lnSpc>
              <a:spcBef>
                <a:spcPts val="0"/>
              </a:spcBef>
              <a:spcAft>
                <a:spcPts val="0"/>
              </a:spcAft>
              <a:buClr>
                <a:srgbClr val="182A2E"/>
              </a:buClr>
              <a:buSzPts val="1800"/>
              <a:buNone/>
              <a:defRPr/>
            </a:lvl9pPr>
          </a:lstStyle>
          <a:p>
            <a:endParaRPr/>
          </a:p>
        </p:txBody>
      </p:sp>
      <p:pic>
        <p:nvPicPr>
          <p:cNvPr id="23" name="Google Shape;23;p29" descr="GU_Horizontal_Logo.png"/>
          <p:cNvPicPr preferRelativeResize="0"/>
          <p:nvPr/>
        </p:nvPicPr>
        <p:blipFill rotWithShape="1">
          <a:blip r:embed="rId2">
            <a:alphaModFix/>
          </a:blip>
          <a:srcRect/>
          <a:stretch/>
        </p:blipFill>
        <p:spPr>
          <a:xfrm>
            <a:off x="7424216" y="254000"/>
            <a:ext cx="1462809" cy="535346"/>
          </a:xfrm>
          <a:prstGeom prst="rect">
            <a:avLst/>
          </a:prstGeom>
          <a:noFill/>
          <a:ln>
            <a:noFill/>
          </a:ln>
        </p:spPr>
      </p:pic>
      <p:sp>
        <p:nvSpPr>
          <p:cNvPr id="24" name="Google Shape;24;p29"/>
          <p:cNvSpPr txBox="1">
            <a:spLocks noGrp="1"/>
          </p:cNvSpPr>
          <p:nvPr>
            <p:ph type="sldNum" idx="12"/>
          </p:nvPr>
        </p:nvSpPr>
        <p:spPr>
          <a:xfrm>
            <a:off x="7347247" y="4817363"/>
            <a:ext cx="365700" cy="128100"/>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700"/>
              <a:buFont typeface="Arial"/>
              <a:buNone/>
              <a:defRPr sz="700" b="1" i="0" u="none" strike="noStrike" cap="none">
                <a:solidFill>
                  <a:srgbClr val="182A2E"/>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700" b="1" i="0" u="none" strike="noStrike" cap="none">
                <a:solidFill>
                  <a:srgbClr val="182A2E"/>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700" b="1" i="0" u="none" strike="noStrike" cap="none">
                <a:solidFill>
                  <a:srgbClr val="182A2E"/>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700" b="1" i="0" u="none" strike="noStrike" cap="none">
                <a:solidFill>
                  <a:srgbClr val="182A2E"/>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700" b="1" i="0" u="none" strike="noStrike" cap="none">
                <a:solidFill>
                  <a:srgbClr val="182A2E"/>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700" b="1" i="0" u="none" strike="noStrike" cap="none">
                <a:solidFill>
                  <a:srgbClr val="182A2E"/>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700" b="1" i="0" u="none" strike="noStrike" cap="none">
                <a:solidFill>
                  <a:srgbClr val="182A2E"/>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700" b="1" i="0" u="none" strike="noStrike" cap="none">
                <a:solidFill>
                  <a:srgbClr val="182A2E"/>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700" b="1" i="0" u="none" strike="noStrike" cap="none">
                <a:solidFill>
                  <a:srgbClr val="182A2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3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8" name="Google Shape;2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3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1" name="Google Shape;31;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sp>
        <p:nvSpPr>
          <p:cNvPr id="33" name="Google Shape;33;p3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4" name="Google Shape;34;p3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5" name="Google Shape;35;p3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6" name="Google Shape;36;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0"/>
        <p:cNvGrpSpPr/>
        <p:nvPr/>
      </p:nvGrpSpPr>
      <p:grpSpPr>
        <a:xfrm>
          <a:off x="0" y="0"/>
          <a:ext cx="0" cy="0"/>
          <a:chOff x="0" y="0"/>
          <a:chExt cx="0" cy="0"/>
        </a:xfrm>
      </p:grpSpPr>
      <p:sp>
        <p:nvSpPr>
          <p:cNvPr id="41" name="Google Shape;41;p4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2" name="Google Shape;42;p4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43" name="Google Shape;43;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4"/>
        <p:cNvGrpSpPr/>
        <p:nvPr/>
      </p:nvGrpSpPr>
      <p:grpSpPr>
        <a:xfrm>
          <a:off x="0" y="0"/>
          <a:ext cx="0" cy="0"/>
          <a:chOff x="0" y="0"/>
          <a:chExt cx="0" cy="0"/>
        </a:xfrm>
      </p:grpSpPr>
      <p:sp>
        <p:nvSpPr>
          <p:cNvPr id="45" name="Google Shape;45;p4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6" name="Google Shape;46;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7"/>
        <p:cNvGrpSpPr/>
        <p:nvPr/>
      </p:nvGrpSpPr>
      <p:grpSpPr>
        <a:xfrm>
          <a:off x="0" y="0"/>
          <a:ext cx="0" cy="0"/>
          <a:chOff x="0" y="0"/>
          <a:chExt cx="0" cy="0"/>
        </a:xfrm>
      </p:grpSpPr>
      <p:sp>
        <p:nvSpPr>
          <p:cNvPr id="48" name="Google Shape;48;p4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0" name="Google Shape;50;p4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1" name="Google Shape;51;p4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52" name="Google Shape;52;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3"/>
        <p:cNvGrpSpPr/>
        <p:nvPr/>
      </p:nvGrpSpPr>
      <p:grpSpPr>
        <a:xfrm>
          <a:off x="0" y="0"/>
          <a:ext cx="0" cy="0"/>
          <a:chOff x="0" y="0"/>
          <a:chExt cx="0" cy="0"/>
        </a:xfrm>
      </p:grpSpPr>
      <p:sp>
        <p:nvSpPr>
          <p:cNvPr id="54" name="Google Shape;54;p4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800"/>
              <a:buNone/>
              <a:defRPr/>
            </a:lvl1pPr>
          </a:lstStyle>
          <a:p>
            <a:endParaRPr/>
          </a:p>
        </p:txBody>
      </p:sp>
      <p:sp>
        <p:nvSpPr>
          <p:cNvPr id="55" name="Google Shape;55;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6"/>
        <p:cNvGrpSpPr/>
        <p:nvPr/>
      </p:nvGrpSpPr>
      <p:grpSpPr>
        <a:xfrm>
          <a:off x="0" y="0"/>
          <a:ext cx="0" cy="0"/>
          <a:chOff x="0" y="0"/>
          <a:chExt cx="0" cy="0"/>
        </a:xfrm>
      </p:grpSpPr>
      <p:sp>
        <p:nvSpPr>
          <p:cNvPr id="57" name="Google Shape;57;p4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8" name="Google Shape;58;p4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9" name="Google Shape;59;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3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3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3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3"/>
        <p:cNvGrpSpPr/>
        <p:nvPr/>
      </p:nvGrpSpPr>
      <p:grpSpPr>
        <a:xfrm>
          <a:off x="0" y="0"/>
          <a:ext cx="0" cy="0"/>
          <a:chOff x="0" y="0"/>
          <a:chExt cx="0" cy="0"/>
        </a:xfrm>
      </p:grpSpPr>
      <p:sp>
        <p:nvSpPr>
          <p:cNvPr id="84" name="Google Shape;84;p34"/>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5" name="Google Shape;85;p34"/>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Autofit/>
          </a:bodyPr>
          <a:lstStyle>
            <a:lvl1pPr marR="0" lvl="0" algn="ctr">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86" name="Google Shape;86;p3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3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3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9"/>
        <p:cNvGrpSpPr/>
        <p:nvPr/>
      </p:nvGrpSpPr>
      <p:grpSpPr>
        <a:xfrm>
          <a:off x="0" y="0"/>
          <a:ext cx="0" cy="0"/>
          <a:chOff x="0" y="0"/>
          <a:chExt cx="0" cy="0"/>
        </a:xfrm>
      </p:grpSpPr>
      <p:sp>
        <p:nvSpPr>
          <p:cNvPr id="90" name="Google Shape;90;p45"/>
          <p:cNvSpPr txBox="1">
            <a:spLocks noGrp="1"/>
          </p:cNvSpPr>
          <p:nvPr>
            <p:ph type="title"/>
          </p:nvPr>
        </p:nvSpPr>
        <p:spPr>
          <a:xfrm>
            <a:off x="722313" y="3305175"/>
            <a:ext cx="7772400" cy="1021556"/>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91" name="Google Shape;91;p45"/>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Autofit/>
          </a:bodyPr>
          <a:lstStyle>
            <a:lvl1pPr marL="457200" marR="0" lvl="0" indent="-228600" algn="l">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a:lnSpc>
                <a:spcPct val="100000"/>
              </a:lnSpc>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92" name="Google Shape;92;p4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3" name="Google Shape;93;p4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4" name="Google Shape;94;p4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5"/>
        <p:cNvGrpSpPr/>
        <p:nvPr/>
      </p:nvGrpSpPr>
      <p:grpSpPr>
        <a:xfrm>
          <a:off x="0" y="0"/>
          <a:ext cx="0" cy="0"/>
          <a:chOff x="0" y="0"/>
          <a:chExt cx="0" cy="0"/>
        </a:xfrm>
      </p:grpSpPr>
      <p:sp>
        <p:nvSpPr>
          <p:cNvPr id="96" name="Google Shape;96;p46"/>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97" name="Google Shape;97;p46"/>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Autofit/>
          </a:bodyPr>
          <a:lstStyle>
            <a:lvl1pPr marL="457200" marR="0" lvl="0"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8" name="Google Shape;98;p46"/>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Autofit/>
          </a:bodyPr>
          <a:lstStyle>
            <a:lvl1pPr marL="457200" marR="0" lvl="0"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9" name="Google Shape;99;p4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0" name="Google Shape;100;p4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4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2"/>
        <p:cNvGrpSpPr/>
        <p:nvPr/>
      </p:nvGrpSpPr>
      <p:grpSpPr>
        <a:xfrm>
          <a:off x="0" y="0"/>
          <a:ext cx="0" cy="0"/>
          <a:chOff x="0" y="0"/>
          <a:chExt cx="0" cy="0"/>
        </a:xfrm>
      </p:grpSpPr>
      <p:sp>
        <p:nvSpPr>
          <p:cNvPr id="103" name="Google Shape;103;p47"/>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04" name="Google Shape;104;p47"/>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marR="0" lvl="0" indent="-228600" algn="l">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05" name="Google Shape;105;p47"/>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106" name="Google Shape;106;p47"/>
          <p:cNvSpPr txBox="1">
            <a:spLocks noGrp="1"/>
          </p:cNvSpPr>
          <p:nvPr>
            <p:ph type="body" idx="3"/>
          </p:nvPr>
        </p:nvSpPr>
        <p:spPr>
          <a:xfrm>
            <a:off x="4645025" y="1151335"/>
            <a:ext cx="4041775" cy="479822"/>
          </a:xfrm>
          <a:prstGeom prst="rect">
            <a:avLst/>
          </a:prstGeom>
          <a:noFill/>
          <a:ln>
            <a:noFill/>
          </a:ln>
        </p:spPr>
        <p:txBody>
          <a:bodyPr spcFirstLastPara="1" wrap="square" lIns="91425" tIns="45700" rIns="91425" bIns="45700" anchor="b" anchorCtr="0">
            <a:noAutofit/>
          </a:bodyPr>
          <a:lstStyle>
            <a:lvl1pPr marL="457200" marR="0" lvl="0" indent="-228600" algn="l">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07" name="Google Shape;107;p47"/>
          <p:cNvSpPr txBox="1">
            <a:spLocks noGrp="1"/>
          </p:cNvSpPr>
          <p:nvPr>
            <p:ph type="body" idx="4"/>
          </p:nvPr>
        </p:nvSpPr>
        <p:spPr>
          <a:xfrm>
            <a:off x="4645025" y="1631156"/>
            <a:ext cx="4041775" cy="2963466"/>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108" name="Google Shape;108;p4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9" name="Google Shape;109;p4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4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48"/>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13" name="Google Shape;113;p4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4" name="Google Shape;114;p4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5" name="Google Shape;115;p4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6"/>
        <p:cNvGrpSpPr/>
        <p:nvPr/>
      </p:nvGrpSpPr>
      <p:grpSpPr>
        <a:xfrm>
          <a:off x="0" y="0"/>
          <a:ext cx="0" cy="0"/>
          <a:chOff x="0" y="0"/>
          <a:chExt cx="0" cy="0"/>
        </a:xfrm>
      </p:grpSpPr>
      <p:sp>
        <p:nvSpPr>
          <p:cNvPr id="117" name="Google Shape;117;p49"/>
          <p:cNvSpPr txBox="1">
            <a:spLocks noGrp="1"/>
          </p:cNvSpPr>
          <p:nvPr>
            <p:ph type="title"/>
          </p:nvPr>
        </p:nvSpPr>
        <p:spPr>
          <a:xfrm>
            <a:off x="457200" y="204788"/>
            <a:ext cx="3008313" cy="871537"/>
          </a:xfrm>
          <a:prstGeom prst="rect">
            <a:avLst/>
          </a:prstGeom>
          <a:noFill/>
          <a:ln>
            <a:noFill/>
          </a:ln>
        </p:spPr>
        <p:txBody>
          <a:bodyPr spcFirstLastPara="1" wrap="square" lIns="91425" tIns="45700" rIns="91425" bIns="45700"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18" name="Google Shape;118;p49"/>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9" name="Google Shape;119;p49"/>
          <p:cNvSpPr txBox="1">
            <a:spLocks noGrp="1"/>
          </p:cNvSpPr>
          <p:nvPr>
            <p:ph type="body" idx="2"/>
          </p:nvPr>
        </p:nvSpPr>
        <p:spPr>
          <a:xfrm>
            <a:off x="457200" y="1076325"/>
            <a:ext cx="3008313" cy="3518297"/>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20" name="Google Shape;120;p4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1" name="Google Shape;121;p4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2" name="Google Shape;122;p4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3"/>
        <p:cNvGrpSpPr/>
        <p:nvPr/>
      </p:nvGrpSpPr>
      <p:grpSpPr>
        <a:xfrm>
          <a:off x="0" y="0"/>
          <a:ext cx="0" cy="0"/>
          <a:chOff x="0" y="0"/>
          <a:chExt cx="0" cy="0"/>
        </a:xfrm>
      </p:grpSpPr>
      <p:sp>
        <p:nvSpPr>
          <p:cNvPr id="124" name="Google Shape;124;p50"/>
          <p:cNvSpPr txBox="1">
            <a:spLocks noGrp="1"/>
          </p:cNvSpPr>
          <p:nvPr>
            <p:ph type="title"/>
          </p:nvPr>
        </p:nvSpPr>
        <p:spPr>
          <a:xfrm>
            <a:off x="1792288" y="3600450"/>
            <a:ext cx="5486400" cy="425053"/>
          </a:xfrm>
          <a:prstGeom prst="rect">
            <a:avLst/>
          </a:prstGeom>
          <a:noFill/>
          <a:ln>
            <a:noFill/>
          </a:ln>
        </p:spPr>
        <p:txBody>
          <a:bodyPr spcFirstLastPara="1" wrap="square" lIns="91425" tIns="45700" rIns="91425" bIns="45700"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25" name="Google Shape;125;p50"/>
          <p:cNvSpPr>
            <a:spLocks noGrp="1"/>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26" name="Google Shape;126;p50"/>
          <p:cNvSpPr txBox="1">
            <a:spLocks noGrp="1"/>
          </p:cNvSpPr>
          <p:nvPr>
            <p:ph type="body" idx="1"/>
          </p:nvPr>
        </p:nvSpPr>
        <p:spPr>
          <a:xfrm>
            <a:off x="1792288" y="4025503"/>
            <a:ext cx="5486400" cy="603646"/>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127" name="Google Shape;127;p50"/>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8" name="Google Shape;128;p50"/>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9" name="Google Shape;129;p5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0"/>
        <p:cNvGrpSpPr/>
        <p:nvPr/>
      </p:nvGrpSpPr>
      <p:grpSpPr>
        <a:xfrm>
          <a:off x="0" y="0"/>
          <a:ext cx="0" cy="0"/>
          <a:chOff x="0" y="0"/>
          <a:chExt cx="0" cy="0"/>
        </a:xfrm>
      </p:grpSpPr>
      <p:sp>
        <p:nvSpPr>
          <p:cNvPr id="131" name="Google Shape;131;p51"/>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32" name="Google Shape;132;p51"/>
          <p:cNvSpPr txBox="1">
            <a:spLocks noGrp="1"/>
          </p:cNvSpPr>
          <p:nvPr>
            <p:ph type="body" idx="1"/>
          </p:nvPr>
        </p:nvSpPr>
        <p:spPr>
          <a:xfrm rot="5400000">
            <a:off x="2874764" y="-1217414"/>
            <a:ext cx="3394472" cy="8229600"/>
          </a:xfrm>
          <a:prstGeom prst="rect">
            <a:avLst/>
          </a:prstGeom>
          <a:noFill/>
          <a:ln>
            <a:noFill/>
          </a:ln>
        </p:spPr>
        <p:txBody>
          <a:bodyPr spcFirstLastPara="1" wrap="square" lIns="91425" tIns="45700" rIns="91425" bIns="45700"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3" name="Google Shape;133;p5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4" name="Google Shape;134;p5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5" name="Google Shape;135;p5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6"/>
        <p:cNvGrpSpPr/>
        <p:nvPr/>
      </p:nvGrpSpPr>
      <p:grpSpPr>
        <a:xfrm>
          <a:off x="0" y="0"/>
          <a:ext cx="0" cy="0"/>
          <a:chOff x="0" y="0"/>
          <a:chExt cx="0" cy="0"/>
        </a:xfrm>
      </p:grpSpPr>
      <p:sp>
        <p:nvSpPr>
          <p:cNvPr id="137" name="Google Shape;137;p52"/>
          <p:cNvSpPr txBox="1">
            <a:spLocks noGrp="1"/>
          </p:cNvSpPr>
          <p:nvPr>
            <p:ph type="title"/>
          </p:nvPr>
        </p:nvSpPr>
        <p:spPr>
          <a:xfrm rot="5400000">
            <a:off x="5463778" y="1371600"/>
            <a:ext cx="4388644" cy="20574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38" name="Google Shape;138;p52"/>
          <p:cNvSpPr txBox="1">
            <a:spLocks noGrp="1"/>
          </p:cNvSpPr>
          <p:nvPr>
            <p:ph type="body" idx="1"/>
          </p:nvPr>
        </p:nvSpPr>
        <p:spPr>
          <a:xfrm rot="5400000">
            <a:off x="1272778" y="-609599"/>
            <a:ext cx="4388644" cy="6019800"/>
          </a:xfrm>
          <a:prstGeom prst="rect">
            <a:avLst/>
          </a:prstGeom>
          <a:noFill/>
          <a:ln>
            <a:noFill/>
          </a:ln>
        </p:spPr>
        <p:txBody>
          <a:bodyPr spcFirstLastPara="1" wrap="square" lIns="91425" tIns="45700" rIns="91425" bIns="45700" anchor="t" anchorCtr="0">
            <a:noAutofit/>
          </a:bodyPr>
          <a:lstStyle>
            <a:lvl1pPr marL="457200" marR="0" lvl="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9" name="Google Shape;139;p5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0" name="Google Shape;140;p5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1" name="Google Shape;141;p5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
        <p:cNvGrpSpPr/>
        <p:nvPr/>
      </p:nvGrpSpPr>
      <p:grpSpPr>
        <a:xfrm>
          <a:off x="0" y="0"/>
          <a:ext cx="0" cy="0"/>
          <a:chOff x="0" y="0"/>
          <a:chExt cx="0" cy="0"/>
        </a:xfrm>
      </p:grpSpPr>
      <p:sp>
        <p:nvSpPr>
          <p:cNvPr id="67" name="Google Shape;67;p31"/>
          <p:cNvSpPr txBox="1">
            <a:spLocks noGrp="1"/>
          </p:cNvSpPr>
          <p:nvPr>
            <p:ph type="title"/>
          </p:nvPr>
        </p:nvSpPr>
        <p:spPr>
          <a:xfrm>
            <a:off x="457200" y="205978"/>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8" name="Google Shape;68;p31"/>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9" name="Google Shape;69;p3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3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3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www.barcinno.com/ideas-vs-execution-the-battle-of-our-time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
        <p:nvSpPr>
          <p:cNvPr id="207" name="Google Shape;207;p4"/>
          <p:cNvSpPr txBox="1">
            <a:spLocks noGrp="1"/>
          </p:cNvSpPr>
          <p:nvPr>
            <p:ph type="title"/>
          </p:nvPr>
        </p:nvSpPr>
        <p:spPr>
          <a:xfrm>
            <a:off x="457200" y="406400"/>
            <a:ext cx="6667500" cy="968700"/>
          </a:xfrm>
          <a:prstGeom prst="rect">
            <a:avLst/>
          </a:prstGeom>
          <a:noFill/>
          <a:ln>
            <a:noFill/>
          </a:ln>
        </p:spPr>
        <p:txBody>
          <a:bodyPr spcFirstLastPara="1" wrap="square" lIns="91400" tIns="91400" rIns="91400" bIns="91400" anchor="t" anchorCtr="0">
            <a:noAutofit/>
          </a:bodyPr>
          <a:lstStyle/>
          <a:p>
            <a:pPr marL="0" lvl="0" indent="0" algn="l" rtl="0">
              <a:lnSpc>
                <a:spcPct val="100000"/>
              </a:lnSpc>
              <a:spcBef>
                <a:spcPts val="600"/>
              </a:spcBef>
              <a:spcAft>
                <a:spcPts val="0"/>
              </a:spcAft>
              <a:buClr>
                <a:srgbClr val="000000"/>
              </a:buClr>
              <a:buSzPts val="1600"/>
              <a:buFont typeface="Montserrat Light"/>
              <a:buNone/>
            </a:pPr>
            <a:r>
              <a:rPr lang="en-US" dirty="0">
                <a:latin typeface="Montserrat"/>
                <a:ea typeface="Montserrat"/>
                <a:cs typeface="Montserrat"/>
                <a:sym typeface="Montserra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textRoundtripDataId="0"/>
                  </a:ext>
                </a:extLst>
              </a:rPr>
              <a:t>Presentation de </a:t>
            </a:r>
            <a:r>
              <a:rPr lang="en-US" dirty="0" err="1">
                <a:latin typeface="Montserrat"/>
                <a:ea typeface="Montserrat"/>
                <a:cs typeface="Montserrat"/>
                <a:sym typeface="Montserra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textRoundtripDataId="0"/>
                  </a:ext>
                </a:extLst>
              </a:rPr>
              <a:t>l’équipe</a:t>
            </a:r>
            <a:endParaRPr dirty="0">
              <a:latin typeface="Montserrat"/>
              <a:ea typeface="Montserrat"/>
              <a:cs typeface="Montserrat"/>
              <a:sym typeface="Montserrat"/>
            </a:endParaRPr>
          </a:p>
        </p:txBody>
      </p:sp>
      <p:sp>
        <p:nvSpPr>
          <p:cNvPr id="208" name="Google Shape;208;p4"/>
          <p:cNvSpPr txBox="1"/>
          <p:nvPr/>
        </p:nvSpPr>
        <p:spPr>
          <a:xfrm>
            <a:off x="457200" y="1375100"/>
            <a:ext cx="8010600" cy="3089100"/>
          </a:xfrm>
          <a:prstGeom prst="rect">
            <a:avLst/>
          </a:prstGeom>
          <a:noFill/>
          <a:ln>
            <a:noFill/>
          </a:ln>
        </p:spPr>
        <p:txBody>
          <a:bodyPr spcFirstLastPara="1" wrap="square" lIns="0" tIns="0" rIns="0" bIns="0" anchor="t" anchorCtr="0">
            <a:noAutofit/>
          </a:bodyPr>
          <a:lstStyle/>
          <a:p>
            <a:pPr marL="457200" lvl="0" indent="-342900" algn="l" rtl="0">
              <a:lnSpc>
                <a:spcPct val="150000"/>
              </a:lnSpc>
              <a:buClr>
                <a:srgbClr val="FFFFFF"/>
              </a:buClr>
              <a:buSzPct val="100000"/>
              <a:buFont typeface="Lato"/>
              <a:buChar char="●"/>
            </a:pPr>
            <a:r>
              <a:rPr lang="en-US" sz="1600" b="0" i="0" u="none" strike="noStrike" cap="none" dirty="0" err="1">
                <a:solidFill>
                  <a:srgbClr val="000000"/>
                </a:solidFill>
                <a:latin typeface="Montserrat"/>
                <a:ea typeface="Montserrat Light"/>
                <a:cs typeface="Montserrat Light"/>
                <a:sym typeface="Lato"/>
              </a:rPr>
              <a:t>Noms</a:t>
            </a:r>
            <a:r>
              <a:rPr lang="en-US" sz="1600" b="0" i="0" u="none" strike="noStrike" cap="none" dirty="0">
                <a:solidFill>
                  <a:srgbClr val="000000"/>
                </a:solidFill>
                <a:latin typeface="Montserrat"/>
                <a:ea typeface="Montserrat Light"/>
                <a:cs typeface="Montserrat Light"/>
                <a:sym typeface="Lato"/>
              </a:rPr>
              <a:t> et </a:t>
            </a:r>
            <a:r>
              <a:rPr lang="en-US" sz="1600" b="0" i="0" u="none" strike="noStrike" cap="none" dirty="0" err="1">
                <a:solidFill>
                  <a:srgbClr val="000000"/>
                </a:solidFill>
                <a:latin typeface="Montserrat"/>
                <a:ea typeface="Montserrat Light"/>
                <a:cs typeface="Montserrat Light"/>
                <a:sym typeface="Lato"/>
              </a:rPr>
              <a:t>prenoms</a:t>
            </a:r>
            <a:r>
              <a:rPr lang="en-US" sz="1600" b="0" i="0" u="none" strike="noStrike" cap="none" dirty="0">
                <a:solidFill>
                  <a:srgbClr val="000000"/>
                </a:solidFill>
                <a:latin typeface="Montserrat"/>
                <a:ea typeface="Montserrat Light"/>
                <a:cs typeface="Montserrat Light"/>
                <a:sym typeface="Lato"/>
              </a:rPr>
              <a:t> des members de </a:t>
            </a:r>
            <a:r>
              <a:rPr lang="en-US" sz="1600" b="0" i="0" u="none" strike="noStrike" cap="none" dirty="0" err="1">
                <a:solidFill>
                  <a:srgbClr val="000000"/>
                </a:solidFill>
                <a:latin typeface="Montserrat"/>
                <a:ea typeface="Montserrat Light"/>
                <a:cs typeface="Montserrat Light"/>
                <a:sym typeface="Lato"/>
              </a:rPr>
              <a:t>l’equipe</a:t>
            </a:r>
            <a:endParaRPr sz="1200" b="0" i="0" u="none" strike="noStrike" cap="none" dirty="0">
              <a:solidFill>
                <a:srgbClr val="000000"/>
              </a:solidFill>
              <a:latin typeface="Montserrat Light"/>
              <a:ea typeface="Montserrat Light"/>
              <a:cs typeface="Montserrat Light"/>
              <a:sym typeface="Montserrat Light"/>
            </a:endParaRPr>
          </a:p>
        </p:txBody>
      </p:sp>
      <p:sp>
        <p:nvSpPr>
          <p:cNvPr id="209" name="Google Shape;209;p4"/>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10" name="Google Shape;210;p4"/>
          <p:cNvSpPr txBox="1">
            <a:spLocks noGrp="1"/>
          </p:cNvSpPr>
          <p:nvPr>
            <p:ph type="sldNum" idx="12"/>
          </p:nvPr>
        </p:nvSpPr>
        <p:spPr>
          <a:xfrm>
            <a:off x="7424215" y="4817363"/>
            <a:ext cx="365700" cy="128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700"/>
              <a:buNone/>
            </a:pPr>
            <a:fld id="{00000000-1234-1234-1234-123412341234}" type="slidenum">
              <a:rPr lang="en-US"/>
              <a:t>1</a:t>
            </a:fld>
            <a:endParaRPr/>
          </a:p>
        </p:txBody>
      </p:sp>
    </p:spTree>
    <p:extLst>
      <p:ext uri="{BB962C8B-B14F-4D97-AF65-F5344CB8AC3E}">
        <p14:creationId xmlns:p14="http://schemas.microsoft.com/office/powerpoint/2010/main" val="209353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4"/>
          <p:cNvSpPr txBox="1">
            <a:spLocks noGrp="1"/>
          </p:cNvSpPr>
          <p:nvPr>
            <p:ph type="title"/>
          </p:nvPr>
        </p:nvSpPr>
        <p:spPr>
          <a:xfrm>
            <a:off x="457200" y="406400"/>
            <a:ext cx="6667500" cy="968700"/>
          </a:xfrm>
          <a:prstGeom prst="rect">
            <a:avLst/>
          </a:prstGeom>
          <a:noFill/>
          <a:ln>
            <a:noFill/>
          </a:ln>
        </p:spPr>
        <p:txBody>
          <a:bodyPr spcFirstLastPara="1" wrap="square" lIns="91400" tIns="91400" rIns="91400" bIns="91400" anchor="t" anchorCtr="0">
            <a:noAutofit/>
          </a:bodyPr>
          <a:lstStyle/>
          <a:p>
            <a:pPr marL="0" lvl="0" indent="0" algn="l" rtl="0">
              <a:lnSpc>
                <a:spcPct val="100000"/>
              </a:lnSpc>
              <a:spcBef>
                <a:spcPts val="600"/>
              </a:spcBef>
              <a:spcAft>
                <a:spcPts val="0"/>
              </a:spcAft>
              <a:buClr>
                <a:srgbClr val="000000"/>
              </a:buClr>
              <a:buSzPts val="1600"/>
              <a:buFont typeface="Montserrat Light"/>
              <a:buNone/>
            </a:pPr>
            <a:r>
              <a:rPr lang="en-US" dirty="0">
                <a:latin typeface="Montserrat"/>
                <a:ea typeface="Montserrat"/>
                <a:cs typeface="Montserrat"/>
                <a:sym typeface="Montserrat"/>
                <a:extLst>
                  <a: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textRoundtripDataId="0"/>
                  </a:ext>
                </a:extLst>
              </a:rPr>
              <a:t>PROBLÈME</a:t>
            </a:r>
            <a:endParaRPr dirty="0">
              <a:latin typeface="Montserrat"/>
              <a:ea typeface="Montserrat"/>
              <a:cs typeface="Montserrat"/>
              <a:sym typeface="Montserrat"/>
            </a:endParaRPr>
          </a:p>
        </p:txBody>
      </p:sp>
      <p:sp>
        <p:nvSpPr>
          <p:cNvPr id="208" name="Google Shape;208;p4"/>
          <p:cNvSpPr txBox="1"/>
          <p:nvPr/>
        </p:nvSpPr>
        <p:spPr>
          <a:xfrm>
            <a:off x="457200" y="1375100"/>
            <a:ext cx="8010600" cy="3089100"/>
          </a:xfrm>
          <a:prstGeom prst="rect">
            <a:avLst/>
          </a:prstGeom>
          <a:noFill/>
          <a:ln>
            <a:noFill/>
          </a:ln>
        </p:spPr>
        <p:txBody>
          <a:bodyPr spcFirstLastPara="1" wrap="square" lIns="0" tIns="0" rIns="0" bIns="0" anchor="t" anchorCtr="0">
            <a:noAutofit/>
          </a:bodyPr>
          <a:lstStyle/>
          <a:p>
            <a:pPr marL="457200" lvl="0" indent="-342900" algn="l" rtl="0">
              <a:lnSpc>
                <a:spcPct val="150000"/>
              </a:lnSpc>
              <a:buClr>
                <a:srgbClr val="FFFFFF"/>
              </a:buClr>
              <a:buSzPct val="100000"/>
              <a:buFont typeface="Lato"/>
              <a:buChar char="●"/>
            </a:pPr>
            <a:r>
              <a:rPr lang="en" sz="1600" dirty="0">
                <a:latin typeface="Montserrat"/>
                <a:sym typeface="Lato"/>
              </a:rPr>
              <a:t>Décrivez le problème que vous avez décidé de résoudre</a:t>
            </a:r>
          </a:p>
          <a:p>
            <a:pPr marL="457200" lvl="0" indent="-342900" algn="l" rtl="0">
              <a:lnSpc>
                <a:spcPct val="150000"/>
              </a:lnSpc>
              <a:buClr>
                <a:srgbClr val="FFFFFF"/>
              </a:buClr>
              <a:buSzPct val="100000"/>
              <a:buFont typeface="Lato"/>
              <a:buChar char="●"/>
            </a:pPr>
            <a:endParaRPr lang="en" sz="1600" dirty="0">
              <a:latin typeface="Montserrat"/>
              <a:sym typeface="Lato"/>
            </a:endParaRPr>
          </a:p>
          <a:p>
            <a:pPr marL="457200" lvl="0" indent="-342900" algn="l" rtl="0">
              <a:lnSpc>
                <a:spcPct val="150000"/>
              </a:lnSpc>
              <a:buClr>
                <a:srgbClr val="FFFFFF"/>
              </a:buClr>
              <a:buSzPct val="100000"/>
              <a:buFont typeface="Lato"/>
              <a:buChar char="●"/>
            </a:pPr>
            <a:r>
              <a:rPr lang="en" sz="1600" dirty="0">
                <a:latin typeface="Montserrat"/>
                <a:sym typeface="Lato"/>
              </a:rPr>
              <a:t>Sans parler de votre solution/produit ou votre business/entreprise, quel est le changement que vous envisagez ?</a:t>
            </a:r>
          </a:p>
          <a:p>
            <a:pPr lvl="0" algn="l" rtl="0">
              <a:lnSpc>
                <a:spcPct val="150000"/>
              </a:lnSpc>
            </a:pPr>
            <a:endParaRPr lang="en" sz="1600" dirty="0">
              <a:latin typeface="Montserrat"/>
              <a:sym typeface="Lato"/>
            </a:endParaRPr>
          </a:p>
          <a:p>
            <a:pPr marL="457200" lvl="0" indent="-342900" algn="l" rtl="0">
              <a:lnSpc>
                <a:spcPct val="150000"/>
              </a:lnSpc>
              <a:buClr>
                <a:srgbClr val="FFFFFF"/>
              </a:buClr>
              <a:buSzPct val="100000"/>
              <a:buFont typeface="Lato"/>
              <a:buChar char="●"/>
            </a:pPr>
            <a:r>
              <a:rPr lang="en" sz="1600" dirty="0">
                <a:latin typeface="Montserrat"/>
                <a:sym typeface="Lato"/>
              </a:rPr>
              <a:t>Parlez du problème que vous résolvez, pour qui vous le résolvez et les raisons pour lesquelles vos clients/beneficiaires cibles sont frustrés par les solutions actuelles (si elles existent)</a:t>
            </a:r>
          </a:p>
          <a:p>
            <a:pPr marL="285750" marR="0" lvl="5" indent="-196850" algn="l" rtl="0">
              <a:lnSpc>
                <a:spcPct val="150000"/>
              </a:lnSpc>
              <a:spcBef>
                <a:spcPts val="400"/>
              </a:spcBef>
              <a:spcAft>
                <a:spcPts val="0"/>
              </a:spcAft>
              <a:buClr>
                <a:srgbClr val="000000"/>
              </a:buClr>
              <a:buSzPts val="1400"/>
              <a:buFont typeface="Arial"/>
              <a:buNone/>
            </a:pPr>
            <a:endParaRPr sz="1400" b="0" i="0" u="none" strike="noStrike" cap="none" dirty="0">
              <a:solidFill>
                <a:srgbClr val="000000"/>
              </a:solidFill>
              <a:latin typeface="Montserrat"/>
              <a:ea typeface="Montserrat"/>
              <a:cs typeface="Montserrat"/>
              <a:sym typeface="Montserrat"/>
            </a:endParaRPr>
          </a:p>
          <a:p>
            <a:pPr marL="0" marR="0" lvl="5" indent="0" algn="l" rtl="0">
              <a:lnSpc>
                <a:spcPct val="150000"/>
              </a:lnSpc>
              <a:spcBef>
                <a:spcPts val="400"/>
              </a:spcBef>
              <a:spcAft>
                <a:spcPts val="0"/>
              </a:spcAft>
              <a:buNone/>
            </a:pPr>
            <a:endParaRPr sz="1400" b="0" i="0" u="none" strike="noStrike" cap="none" dirty="0">
              <a:solidFill>
                <a:srgbClr val="000000"/>
              </a:solidFill>
              <a:latin typeface="Montserrat"/>
              <a:ea typeface="Montserrat"/>
              <a:cs typeface="Montserrat"/>
              <a:sym typeface="Montserrat"/>
            </a:endParaRPr>
          </a:p>
          <a:p>
            <a:pPr marL="0" marR="0" lvl="0" indent="0" algn="l" rtl="0">
              <a:lnSpc>
                <a:spcPct val="100000"/>
              </a:lnSpc>
              <a:spcBef>
                <a:spcPts val="400"/>
              </a:spcBef>
              <a:spcAft>
                <a:spcPts val="0"/>
              </a:spcAft>
              <a:buClr>
                <a:srgbClr val="000000"/>
              </a:buClr>
              <a:buSzPts val="1400"/>
              <a:buFont typeface="Arial"/>
              <a:buNone/>
            </a:pPr>
            <a:endParaRPr sz="1200" b="0" i="0" u="none" strike="noStrike" cap="none" dirty="0">
              <a:solidFill>
                <a:srgbClr val="000000"/>
              </a:solidFill>
              <a:latin typeface="Montserrat Light"/>
              <a:ea typeface="Montserrat Light"/>
              <a:cs typeface="Montserrat Light"/>
              <a:sym typeface="Montserrat Light"/>
            </a:endParaRPr>
          </a:p>
        </p:txBody>
      </p:sp>
      <p:sp>
        <p:nvSpPr>
          <p:cNvPr id="209" name="Google Shape;209;p4"/>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10" name="Google Shape;210;p4"/>
          <p:cNvSpPr txBox="1">
            <a:spLocks noGrp="1"/>
          </p:cNvSpPr>
          <p:nvPr>
            <p:ph type="sldNum" idx="12"/>
          </p:nvPr>
        </p:nvSpPr>
        <p:spPr>
          <a:xfrm>
            <a:off x="7424215" y="4817363"/>
            <a:ext cx="365700" cy="128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7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SOLUTIONS &amp; MVP</a:t>
            </a:r>
            <a:endParaRPr dirty="0">
              <a:latin typeface="Montserrat"/>
              <a:ea typeface="Montserrat"/>
              <a:cs typeface="Montserrat"/>
              <a:sym typeface="Montserrat"/>
            </a:endParaRPr>
          </a:p>
        </p:txBody>
      </p:sp>
      <p:pic>
        <p:nvPicPr>
          <p:cNvPr id="264" name="Google Shape;264;p19"/>
          <p:cNvPicPr preferRelativeResize="0"/>
          <p:nvPr/>
        </p:nvPicPr>
        <p:blipFill rotWithShape="1">
          <a:blip r:embed="rId3">
            <a:alphaModFix/>
          </a:blip>
          <a:srcRect/>
          <a:stretch/>
        </p:blipFill>
        <p:spPr>
          <a:xfrm>
            <a:off x="7956674" y="170575"/>
            <a:ext cx="902601" cy="885673"/>
          </a:xfrm>
          <a:prstGeom prst="rect">
            <a:avLst/>
          </a:prstGeom>
          <a:noFill/>
          <a:ln>
            <a:noFill/>
          </a:ln>
        </p:spPr>
      </p:pic>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311700" y="1717824"/>
            <a:ext cx="7499400" cy="1600398"/>
          </a:xfrm>
          <a:prstGeom prst="rect">
            <a:avLst/>
          </a:prstGeom>
          <a:noFill/>
          <a:ln>
            <a:noFill/>
          </a:ln>
        </p:spPr>
        <p:txBody>
          <a:bodyPr spcFirstLastPara="1" wrap="square" lIns="91425" tIns="45700" rIns="91425" bIns="45700" anchor="t" anchorCtr="0">
            <a:spAutoFit/>
          </a:bodyPr>
          <a:lstStyle/>
          <a:p>
            <a:pPr marL="457200" lvl="0" indent="-349250" algn="l" rtl="0">
              <a:lnSpc>
                <a:spcPct val="150000"/>
              </a:lnSpc>
              <a:buClr>
                <a:srgbClr val="FFFFFF"/>
              </a:buClr>
              <a:buSzPct val="100000"/>
              <a:buFont typeface="Lato"/>
              <a:buChar char="●"/>
            </a:pPr>
            <a:r>
              <a:rPr lang="en" dirty="0">
                <a:latin typeface="Montserrat"/>
                <a:sym typeface="Lato"/>
              </a:rPr>
              <a:t>Présentez votre solution et ses principaux avantages. </a:t>
            </a:r>
            <a:br>
              <a:rPr lang="en" dirty="0">
                <a:latin typeface="Montserrat"/>
                <a:sym typeface="Lato"/>
              </a:rPr>
            </a:br>
            <a:r>
              <a:rPr lang="en" dirty="0">
                <a:latin typeface="Montserrat"/>
                <a:sym typeface="Lato"/>
              </a:rPr>
              <a:t>Votre proposition de valeur unique doit expliquer comment votre produit résout les problèmes des clients/beneficiaires ou améliore leur situation et offre des avantages spécifiques.</a:t>
            </a:r>
            <a:endParaRPr sz="1400" i="0" u="none" strike="noStrike" cap="none" dirty="0">
              <a:solidFill>
                <a:srgbClr val="000000"/>
              </a:solidFill>
              <a:latin typeface="Montserrat"/>
              <a:ea typeface="Montserrat"/>
              <a:cs typeface="Montserrat"/>
              <a:sym typeface="Montserrat"/>
            </a:endParaRPr>
          </a:p>
          <a:p>
            <a:pPr marL="457200" marR="0" lvl="0" indent="0" algn="l" rtl="0">
              <a:lnSpc>
                <a:spcPct val="100000"/>
              </a:lnSpc>
              <a:spcBef>
                <a:spcPts val="0"/>
              </a:spcBef>
              <a:spcAft>
                <a:spcPts val="0"/>
              </a:spcAft>
              <a:buNone/>
            </a:pPr>
            <a:endParaRPr dirty="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err="1">
                <a:latin typeface="Montserrat"/>
                <a:ea typeface="Montserrat"/>
                <a:cs typeface="Montserrat"/>
                <a:sym typeface="Montserrat"/>
              </a:rPr>
              <a:t>Cible</a:t>
            </a:r>
            <a:r>
              <a:rPr lang="en-US" dirty="0">
                <a:latin typeface="Montserrat"/>
                <a:ea typeface="Montserrat"/>
                <a:cs typeface="Montserrat"/>
                <a:sym typeface="Montserrat"/>
              </a:rPr>
              <a:t>/</a:t>
            </a:r>
            <a:r>
              <a:rPr lang="en-US" dirty="0" err="1">
                <a:latin typeface="Montserrat"/>
                <a:ea typeface="Montserrat"/>
                <a:cs typeface="Montserrat"/>
                <a:sym typeface="Montserrat"/>
              </a:rPr>
              <a:t>beneficiaires</a:t>
            </a:r>
            <a:endParaRPr dirty="0">
              <a:latin typeface="Montserrat"/>
              <a:ea typeface="Montserrat"/>
              <a:cs typeface="Montserrat"/>
              <a:sym typeface="Montserrat"/>
            </a:endParaRPr>
          </a:p>
        </p:txBody>
      </p:sp>
      <p:pic>
        <p:nvPicPr>
          <p:cNvPr id="264" name="Google Shape;264;p19"/>
          <p:cNvPicPr preferRelativeResize="0"/>
          <p:nvPr/>
        </p:nvPicPr>
        <p:blipFill rotWithShape="1">
          <a:blip r:embed="rId3">
            <a:alphaModFix/>
          </a:blip>
          <a:srcRect/>
          <a:stretch/>
        </p:blipFill>
        <p:spPr>
          <a:xfrm>
            <a:off x="7956674" y="170575"/>
            <a:ext cx="902601" cy="885673"/>
          </a:xfrm>
          <a:prstGeom prst="rect">
            <a:avLst/>
          </a:prstGeom>
          <a:noFill/>
          <a:ln>
            <a:noFill/>
          </a:ln>
        </p:spPr>
      </p:pic>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1600398"/>
          </a:xfrm>
          <a:prstGeom prst="rect">
            <a:avLst/>
          </a:prstGeom>
          <a:noFill/>
          <a:ln>
            <a:noFill/>
          </a:ln>
        </p:spPr>
        <p:txBody>
          <a:bodyPr spcFirstLastPara="1" wrap="square" lIns="91425" tIns="45700" rIns="91425" bIns="45700" anchor="t" anchorCtr="0">
            <a:spAutoFit/>
          </a:bodyPr>
          <a:lstStyle/>
          <a:p>
            <a:pPr marL="457200" indent="-349250" algn="l" rtl="0">
              <a:lnSpc>
                <a:spcPct val="150000"/>
              </a:lnSpc>
              <a:buClr>
                <a:srgbClr val="FFFFFF"/>
              </a:buClr>
              <a:buSzPct val="100000"/>
              <a:buFont typeface="Lato"/>
              <a:buChar char="●"/>
            </a:pPr>
            <a:r>
              <a:rPr lang="en" dirty="0">
                <a:latin typeface="Montserrat"/>
                <a:sym typeface="Lato"/>
              </a:rPr>
              <a:t>Décrivez votre client idéal. N'oubliez pas de faire la différence entre votre client (la personne/l'entreprise qui paie pour votre produit/service) et votre utilisateur (la personne qui utilise votre produit). Ce ne sont pas toujours les mêmes.</a:t>
            </a:r>
            <a:endParaRPr sz="1400" i="0" u="none" strike="noStrike" cap="none" dirty="0">
              <a:solidFill>
                <a:srgbClr val="000000"/>
              </a:solidFill>
              <a:latin typeface="Montserrat"/>
              <a:ea typeface="Montserrat"/>
              <a:cs typeface="Montserrat"/>
              <a:sym typeface="Montserrat"/>
            </a:endParaRPr>
          </a:p>
          <a:p>
            <a:pPr marL="457200" marR="0" lvl="0" indent="0" algn="l" rtl="0">
              <a:lnSpc>
                <a:spcPct val="100000"/>
              </a:lnSpc>
              <a:spcBef>
                <a:spcPts val="0"/>
              </a:spcBef>
              <a:spcAft>
                <a:spcPts val="0"/>
              </a:spcAft>
              <a:buNone/>
            </a:pPr>
            <a:endParaRPr dirty="0">
              <a:latin typeface="Montserrat"/>
              <a:ea typeface="Montserrat"/>
              <a:cs typeface="Montserrat"/>
              <a:sym typeface="Montserrat"/>
            </a:endParaRPr>
          </a:p>
        </p:txBody>
      </p:sp>
    </p:spTree>
    <p:extLst>
      <p:ext uri="{BB962C8B-B14F-4D97-AF65-F5344CB8AC3E}">
        <p14:creationId xmlns:p14="http://schemas.microsoft.com/office/powerpoint/2010/main" val="2551152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CONCURENCE </a:t>
            </a:r>
            <a:endParaRPr dirty="0">
              <a:latin typeface="Montserrat"/>
              <a:ea typeface="Montserrat"/>
              <a:cs typeface="Montserrat"/>
              <a:sym typeface="Montserrat"/>
            </a:endParaRPr>
          </a:p>
        </p:txBody>
      </p:sp>
      <p:pic>
        <p:nvPicPr>
          <p:cNvPr id="264" name="Google Shape;264;p19"/>
          <p:cNvPicPr preferRelativeResize="0"/>
          <p:nvPr/>
        </p:nvPicPr>
        <p:blipFill rotWithShape="1">
          <a:blip r:embed="rId3">
            <a:alphaModFix/>
          </a:blip>
          <a:srcRect/>
          <a:stretch/>
        </p:blipFill>
        <p:spPr>
          <a:xfrm>
            <a:off x="7956674" y="170575"/>
            <a:ext cx="902601" cy="885673"/>
          </a:xfrm>
          <a:prstGeom prst="rect">
            <a:avLst/>
          </a:prstGeom>
          <a:noFill/>
          <a:ln>
            <a:noFill/>
          </a:ln>
        </p:spPr>
      </p:pic>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1061789"/>
          </a:xfrm>
          <a:prstGeom prst="rect">
            <a:avLst/>
          </a:prstGeom>
          <a:noFill/>
          <a:ln>
            <a:noFill/>
          </a:ln>
        </p:spPr>
        <p:txBody>
          <a:bodyPr spcFirstLastPara="1" wrap="square" lIns="91425" tIns="45700" rIns="91425" bIns="45700" anchor="t" anchorCtr="0">
            <a:spAutoFit/>
          </a:bodyPr>
          <a:lstStyle/>
          <a:p>
            <a:pPr marL="457200" indent="-342900" algn="l" rtl="0">
              <a:lnSpc>
                <a:spcPct val="150000"/>
              </a:lnSpc>
              <a:buClr>
                <a:schemeClr val="lt1"/>
              </a:buClr>
              <a:buSzPct val="100000"/>
              <a:buFont typeface="Lato"/>
              <a:buChar char="●"/>
            </a:pPr>
            <a:r>
              <a:rPr lang="en" dirty="0">
                <a:latin typeface="Montserrat"/>
                <a:sym typeface="Lato"/>
              </a:rPr>
              <a:t>Montrez comment vous surpasserez vos concurrents potentiels.</a:t>
            </a:r>
          </a:p>
          <a:p>
            <a:pPr marL="457200" indent="-342900" algn="l" rtl="0">
              <a:lnSpc>
                <a:spcPct val="150000"/>
              </a:lnSpc>
              <a:buClr>
                <a:schemeClr val="lt1"/>
              </a:buClr>
              <a:buSzPct val="100000"/>
              <a:buFont typeface="Lato"/>
              <a:buChar char="●"/>
            </a:pPr>
            <a:r>
              <a:rPr lang="en" dirty="0">
                <a:latin typeface="Montserrat"/>
                <a:sym typeface="Lato"/>
              </a:rPr>
              <a:t>Expliquez les domaines qui vous rendent plus attrayant : technologie, leader sur le marché, expérience de l'équipe, partenariats précieux, etc.</a:t>
            </a:r>
            <a:endParaRPr dirty="0">
              <a:latin typeface="Montserrat"/>
              <a:ea typeface="Montserrat"/>
              <a:cs typeface="Montserrat"/>
              <a:sym typeface="Montserrat"/>
            </a:endParaRPr>
          </a:p>
        </p:txBody>
      </p:sp>
    </p:spTree>
    <p:extLst>
      <p:ext uri="{BB962C8B-B14F-4D97-AF65-F5344CB8AC3E}">
        <p14:creationId xmlns:p14="http://schemas.microsoft.com/office/powerpoint/2010/main" val="4093430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STRATÉGIE DU MARCHÉ </a:t>
            </a:r>
            <a:endParaRPr dirty="0">
              <a:latin typeface="Montserrat"/>
              <a:ea typeface="Montserrat"/>
              <a:cs typeface="Montserrat"/>
              <a:sym typeface="Montserrat"/>
            </a:endParaRPr>
          </a:p>
        </p:txBody>
      </p:sp>
      <p:pic>
        <p:nvPicPr>
          <p:cNvPr id="264" name="Google Shape;264;p19"/>
          <p:cNvPicPr preferRelativeResize="0"/>
          <p:nvPr/>
        </p:nvPicPr>
        <p:blipFill rotWithShape="1">
          <a:blip r:embed="rId3">
            <a:alphaModFix/>
          </a:blip>
          <a:srcRect/>
          <a:stretch/>
        </p:blipFill>
        <p:spPr>
          <a:xfrm>
            <a:off x="7956674" y="170575"/>
            <a:ext cx="902601" cy="885673"/>
          </a:xfrm>
          <a:prstGeom prst="rect">
            <a:avLst/>
          </a:prstGeom>
          <a:noFill/>
          <a:ln>
            <a:noFill/>
          </a:ln>
        </p:spPr>
      </p:pic>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2354450"/>
          </a:xfrm>
          <a:prstGeom prst="rect">
            <a:avLst/>
          </a:prstGeom>
          <a:noFill/>
          <a:ln>
            <a:noFill/>
          </a:ln>
        </p:spPr>
        <p:txBody>
          <a:bodyPr spcFirstLastPara="1" wrap="square" lIns="91425" tIns="45700" rIns="91425" bIns="45700" anchor="t" anchorCtr="0">
            <a:spAutoFit/>
          </a:bodyPr>
          <a:lstStyle/>
          <a:p>
            <a:pPr marL="457200" indent="-342900" algn="l" rtl="0">
              <a:lnSpc>
                <a:spcPct val="150000"/>
              </a:lnSpc>
              <a:buClr>
                <a:schemeClr val="lt1"/>
              </a:buClr>
              <a:buSzPct val="100000"/>
              <a:buFont typeface="Lato"/>
              <a:buChar char="●"/>
            </a:pPr>
            <a:r>
              <a:rPr lang="en" dirty="0">
                <a:latin typeface="Montserrat"/>
                <a:sym typeface="Lato"/>
              </a:rPr>
              <a:t>Décrivez votre plan de marketing et de vente. Détaillez les tactiques clés que vous avez l'intention d'utiliser pour présenter votre produit/service à des clients/beneficiares potentiels. Trouver, gagner et gérer des clients/beneficiares peut parfois être le plus grand défi pour une startup, il est donc important de montrer que vous avez une solide compréhension de la façon dont vous atteindrez votre marché cible et des canaux de vente que vous prévoyez d'utiliser.</a:t>
            </a:r>
            <a:endParaRPr dirty="0">
              <a:latin typeface="Montserrat"/>
              <a:ea typeface="Montserrat"/>
              <a:cs typeface="Montserrat"/>
              <a:sym typeface="Montserrat"/>
            </a:endParaRPr>
          </a:p>
        </p:txBody>
      </p:sp>
    </p:spTree>
    <p:extLst>
      <p:ext uri="{BB962C8B-B14F-4D97-AF65-F5344CB8AC3E}">
        <p14:creationId xmlns:p14="http://schemas.microsoft.com/office/powerpoint/2010/main" val="1071001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MODÈLE ÉCONOMIQUE/IMPACT SOCIAL</a:t>
            </a:r>
            <a:endParaRPr dirty="0">
              <a:latin typeface="Montserrat"/>
              <a:ea typeface="Montserrat"/>
              <a:cs typeface="Montserrat"/>
              <a:sym typeface="Montserrat"/>
            </a:endParaRPr>
          </a:p>
        </p:txBody>
      </p:sp>
      <p:pic>
        <p:nvPicPr>
          <p:cNvPr id="264" name="Google Shape;264;p19"/>
          <p:cNvPicPr preferRelativeResize="0"/>
          <p:nvPr/>
        </p:nvPicPr>
        <p:blipFill rotWithShape="1">
          <a:blip r:embed="rId3">
            <a:alphaModFix/>
          </a:blip>
          <a:srcRect/>
          <a:stretch/>
        </p:blipFill>
        <p:spPr>
          <a:xfrm>
            <a:off x="7956674" y="170575"/>
            <a:ext cx="902601" cy="885673"/>
          </a:xfrm>
          <a:prstGeom prst="rect">
            <a:avLst/>
          </a:prstGeom>
          <a:noFill/>
          <a:ln>
            <a:noFill/>
          </a:ln>
        </p:spPr>
      </p:pic>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2031285"/>
          </a:xfrm>
          <a:prstGeom prst="rect">
            <a:avLst/>
          </a:prstGeom>
          <a:noFill/>
          <a:ln>
            <a:noFill/>
          </a:ln>
        </p:spPr>
        <p:txBody>
          <a:bodyPr spcFirstLastPara="1" wrap="square" lIns="91425" tIns="45700" rIns="91425" bIns="45700" anchor="t" anchorCtr="0">
            <a:spAutoFit/>
          </a:bodyPr>
          <a:lstStyle/>
          <a:p>
            <a:pPr marL="457200" indent="-342900" algn="l" rtl="0">
              <a:lnSpc>
                <a:spcPct val="150000"/>
              </a:lnSpc>
              <a:buSzPct val="100000"/>
              <a:buFont typeface="Lato"/>
              <a:buChar char="●"/>
            </a:pPr>
            <a:r>
              <a:rPr lang="en-US" dirty="0">
                <a:latin typeface="Montserrat"/>
                <a:sym typeface="Lato"/>
              </a:rPr>
              <a:t>Comment allez-vous gagner de l'argent ? Revenus récurrents ou paiement unique ? Tarification fixe ou tarification dynamique ?</a:t>
            </a:r>
          </a:p>
          <a:p>
            <a:pPr marL="457200" indent="-342900" algn="l" rtl="0">
              <a:lnSpc>
                <a:spcPct val="150000"/>
              </a:lnSpc>
              <a:buSzPct val="100000"/>
              <a:buFont typeface="Lato"/>
              <a:buChar char="●"/>
            </a:pPr>
            <a:r>
              <a:rPr lang="en-US" dirty="0">
                <a:latin typeface="Montserrat"/>
                <a:sym typeface="Lato"/>
              </a:rPr>
              <a:t>Quels sont les opérations/coûts de base de votre entreprise ? </a:t>
            </a:r>
          </a:p>
          <a:p>
            <a:pPr marL="457200" indent="-342900" algn="l" rtl="0">
              <a:lnSpc>
                <a:spcPct val="150000"/>
              </a:lnSpc>
              <a:buSzPct val="100000"/>
              <a:buFont typeface="Lato"/>
              <a:buChar char="●"/>
            </a:pPr>
            <a:r>
              <a:rPr lang="en-US" dirty="0">
                <a:latin typeface="Montserrat"/>
                <a:sym typeface="Lato"/>
              </a:rPr>
              <a:t>La technologie renforce-t-elle votre entreprise et vous aide-t-elle à évoluer ?</a:t>
            </a:r>
          </a:p>
          <a:p>
            <a:pPr marL="457200" indent="-342900" algn="l" rtl="0">
              <a:lnSpc>
                <a:spcPct val="150000"/>
              </a:lnSpc>
              <a:buSzPct val="100000"/>
              <a:buFont typeface="Lato"/>
              <a:buChar char="●"/>
            </a:pPr>
            <a:r>
              <a:rPr lang="en-US" dirty="0">
                <a:latin typeface="Montserrat"/>
                <a:sym typeface="Lato"/>
              </a:rPr>
              <a:t>Quels sont vos objectifs d'impact et comment le modèle économique soutient-il l'impact ?</a:t>
            </a:r>
          </a:p>
        </p:txBody>
      </p:sp>
    </p:spTree>
    <p:extLst>
      <p:ext uri="{BB962C8B-B14F-4D97-AF65-F5344CB8AC3E}">
        <p14:creationId xmlns:p14="http://schemas.microsoft.com/office/powerpoint/2010/main" val="1525748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fr-FR" dirty="0">
                <a:latin typeface="Montserrat"/>
                <a:ea typeface="Montserrat"/>
                <a:cs typeface="Montserrat"/>
                <a:sym typeface="Montserrat"/>
              </a:rPr>
              <a:t>Principales étapes</a:t>
            </a:r>
          </a:p>
        </p:txBody>
      </p:sp>
      <p:pic>
        <p:nvPicPr>
          <p:cNvPr id="264" name="Google Shape;264;p19"/>
          <p:cNvPicPr preferRelativeResize="0"/>
          <p:nvPr/>
        </p:nvPicPr>
        <p:blipFill rotWithShape="1">
          <a:blip r:embed="rId3">
            <a:alphaModFix/>
          </a:blip>
          <a:srcRect/>
          <a:stretch/>
        </p:blipFill>
        <p:spPr>
          <a:xfrm>
            <a:off x="7956674" y="170575"/>
            <a:ext cx="902601" cy="885673"/>
          </a:xfrm>
          <a:prstGeom prst="rect">
            <a:avLst/>
          </a:prstGeom>
          <a:noFill/>
          <a:ln>
            <a:noFill/>
          </a:ln>
        </p:spPr>
      </p:pic>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199" y="1466843"/>
            <a:ext cx="7767687" cy="1061789"/>
          </a:xfrm>
          <a:prstGeom prst="rect">
            <a:avLst/>
          </a:prstGeom>
          <a:noFill/>
          <a:ln>
            <a:noFill/>
          </a:ln>
        </p:spPr>
        <p:txBody>
          <a:bodyPr spcFirstLastPara="1" wrap="square" lIns="91425" tIns="45700" rIns="91425" bIns="45700" anchor="t" anchorCtr="0">
            <a:spAutoFit/>
          </a:bodyPr>
          <a:lstStyle/>
          <a:p>
            <a:pPr marL="107950" lvl="0" algn="l" rtl="0">
              <a:lnSpc>
                <a:spcPct val="150000"/>
              </a:lnSpc>
              <a:buClr>
                <a:srgbClr val="FFFFFF"/>
              </a:buClr>
              <a:buSzPct val="100000"/>
            </a:pPr>
            <a:r>
              <a:rPr lang="en" dirty="0">
                <a:latin typeface="Montserrat"/>
                <a:sym typeface="Lato"/>
              </a:rPr>
              <a:t>Parles nous de </a:t>
            </a:r>
            <a:r>
              <a:rPr lang="en-US" dirty="0">
                <a:latin typeface="Montserrat"/>
                <a:sym typeface="Lato"/>
              </a:rPr>
              <a:t>ce que </a:t>
            </a:r>
            <a:r>
              <a:rPr lang="en-US" dirty="0" err="1">
                <a:latin typeface="Montserrat"/>
                <a:sym typeface="Lato"/>
              </a:rPr>
              <a:t>vous</a:t>
            </a:r>
            <a:r>
              <a:rPr lang="en-US" dirty="0">
                <a:latin typeface="Montserrat"/>
                <a:sym typeface="Lato"/>
              </a:rPr>
              <a:t> </a:t>
            </a:r>
            <a:r>
              <a:rPr lang="en-US" dirty="0" err="1">
                <a:latin typeface="Montserrat"/>
                <a:sym typeface="Lato"/>
              </a:rPr>
              <a:t>voulez</a:t>
            </a:r>
            <a:r>
              <a:rPr lang="en-US" dirty="0">
                <a:latin typeface="Montserrat"/>
                <a:sym typeface="Lato"/>
              </a:rPr>
              <a:t> </a:t>
            </a:r>
            <a:r>
              <a:rPr lang="en-US" dirty="0" err="1">
                <a:latin typeface="Montserrat"/>
                <a:sym typeface="Lato"/>
              </a:rPr>
              <a:t>réaliser</a:t>
            </a:r>
            <a:r>
              <a:rPr lang="en-US" dirty="0">
                <a:latin typeface="Montserrat"/>
                <a:sym typeface="Lato"/>
              </a:rPr>
              <a:t> :</a:t>
            </a:r>
          </a:p>
          <a:p>
            <a:pPr marL="107950" lvl="0" algn="l" rtl="0">
              <a:lnSpc>
                <a:spcPct val="150000"/>
              </a:lnSpc>
              <a:buClr>
                <a:srgbClr val="FFFFFF"/>
              </a:buClr>
              <a:buSzPct val="100000"/>
            </a:pPr>
            <a:r>
              <a:rPr lang="en-US" dirty="0">
                <a:latin typeface="Montserrat"/>
                <a:sym typeface="Lato"/>
              </a:rPr>
              <a:t>Quels objectifs </a:t>
            </a:r>
            <a:r>
              <a:rPr lang="en-US" dirty="0" err="1">
                <a:latin typeface="Montserrat"/>
                <a:sym typeface="Lato"/>
              </a:rPr>
              <a:t>majeurs</a:t>
            </a:r>
            <a:r>
              <a:rPr lang="en-US" dirty="0">
                <a:latin typeface="Montserrat"/>
                <a:sym typeface="Lato"/>
              </a:rPr>
              <a:t> </a:t>
            </a:r>
            <a:r>
              <a:rPr lang="en-US" dirty="0" err="1">
                <a:latin typeface="Montserrat"/>
                <a:sym typeface="Lato"/>
              </a:rPr>
              <a:t>voulez-vous</a:t>
            </a:r>
            <a:r>
              <a:rPr lang="en-US" dirty="0">
                <a:latin typeface="Montserrat"/>
                <a:sym typeface="Lato"/>
              </a:rPr>
              <a:t> </a:t>
            </a:r>
            <a:r>
              <a:rPr lang="en-US" dirty="0" err="1">
                <a:latin typeface="Montserrat"/>
                <a:sym typeface="Lato"/>
              </a:rPr>
              <a:t>atteindre</a:t>
            </a:r>
            <a:r>
              <a:rPr lang="en-US" dirty="0">
                <a:latin typeface="Montserrat"/>
                <a:sym typeface="Lato"/>
              </a:rPr>
              <a:t> ?</a:t>
            </a:r>
          </a:p>
          <a:p>
            <a:pPr marL="107950" lvl="0" algn="l" rtl="0">
              <a:lnSpc>
                <a:spcPct val="150000"/>
              </a:lnSpc>
              <a:buClr>
                <a:srgbClr val="FFFFFF"/>
              </a:buClr>
              <a:buSzPct val="100000"/>
            </a:pPr>
            <a:r>
              <a:rPr lang="en-US" dirty="0">
                <a:latin typeface="Montserrat"/>
                <a:sym typeface="Lato"/>
              </a:rPr>
              <a:t>Comment votre prototype </a:t>
            </a:r>
            <a:r>
              <a:rPr lang="en-US" dirty="0" err="1">
                <a:latin typeface="Montserrat"/>
                <a:sym typeface="Lato"/>
              </a:rPr>
              <a:t>va</a:t>
            </a:r>
            <a:r>
              <a:rPr lang="en-US" dirty="0">
                <a:latin typeface="Montserrat"/>
                <a:sym typeface="Lato"/>
              </a:rPr>
              <a:t>-t-il </a:t>
            </a:r>
            <a:r>
              <a:rPr lang="en-US" dirty="0" err="1">
                <a:latin typeface="Montserrat"/>
                <a:sym typeface="Lato"/>
              </a:rPr>
              <a:t>fonctionner</a:t>
            </a:r>
            <a:r>
              <a:rPr lang="en-US" dirty="0">
                <a:latin typeface="Montserrat"/>
                <a:sym typeface="Lato"/>
              </a:rPr>
              <a:t> ?</a:t>
            </a:r>
          </a:p>
        </p:txBody>
      </p:sp>
    </p:spTree>
    <p:extLst>
      <p:ext uri="{BB962C8B-B14F-4D97-AF65-F5344CB8AC3E}">
        <p14:creationId xmlns:p14="http://schemas.microsoft.com/office/powerpoint/2010/main" val="3177984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PLAN DE TRAVAIL ET PROCHAINES ÉTAPES</a:t>
            </a:r>
            <a:endParaRPr dirty="0">
              <a:latin typeface="Montserrat"/>
              <a:ea typeface="Montserrat"/>
              <a:cs typeface="Montserrat"/>
              <a:sym typeface="Montserrat"/>
            </a:endParaRPr>
          </a:p>
        </p:txBody>
      </p:sp>
      <p:pic>
        <p:nvPicPr>
          <p:cNvPr id="264" name="Google Shape;264;p19"/>
          <p:cNvPicPr preferRelativeResize="0"/>
          <p:nvPr/>
        </p:nvPicPr>
        <p:blipFill rotWithShape="1">
          <a:blip r:embed="rId3">
            <a:alphaModFix/>
          </a:blip>
          <a:srcRect/>
          <a:stretch/>
        </p:blipFill>
        <p:spPr>
          <a:xfrm>
            <a:off x="7956674" y="170575"/>
            <a:ext cx="902601" cy="885673"/>
          </a:xfrm>
          <a:prstGeom prst="rect">
            <a:avLst/>
          </a:prstGeom>
          <a:noFill/>
          <a:ln>
            <a:noFill/>
          </a:ln>
        </p:spPr>
      </p:pic>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738623"/>
          </a:xfrm>
          <a:prstGeom prst="rect">
            <a:avLst/>
          </a:prstGeom>
          <a:noFill/>
          <a:ln>
            <a:noFill/>
          </a:ln>
        </p:spPr>
        <p:txBody>
          <a:bodyPr spcFirstLastPara="1" wrap="square" lIns="91425" tIns="45700" rIns="91425" bIns="45700" anchor="t" anchorCtr="0">
            <a:spAutoFit/>
          </a:bodyPr>
          <a:lstStyle/>
          <a:p>
            <a:pPr marL="457200" lvl="0" indent="-349250" algn="l" rtl="0">
              <a:lnSpc>
                <a:spcPct val="150000"/>
              </a:lnSpc>
              <a:buClr>
                <a:srgbClr val="FFFFFF"/>
              </a:buClr>
              <a:buSzPct val="100000"/>
              <a:buFont typeface="Lato"/>
              <a:buChar char="●"/>
            </a:pPr>
            <a:r>
              <a:rPr lang="en" dirty="0">
                <a:latin typeface="Montserrat"/>
                <a:sym typeface="Lato"/>
              </a:rPr>
              <a:t>Parlez-nous de votre projet: vos objectifs et vos espoirs et comment vous allez les atteindre</a:t>
            </a:r>
          </a:p>
        </p:txBody>
      </p:sp>
    </p:spTree>
    <p:extLst>
      <p:ext uri="{BB962C8B-B14F-4D97-AF65-F5344CB8AC3E}">
        <p14:creationId xmlns:p14="http://schemas.microsoft.com/office/powerpoint/2010/main" val="292219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dirty="0">
                <a:latin typeface="Montserrat"/>
                <a:ea typeface="Montserrat"/>
                <a:cs typeface="Montserrat"/>
                <a:sym typeface="Montserrat"/>
              </a:rPr>
              <a:t>ÉQUIPE, ROLES ET OBJECTIFS</a:t>
            </a:r>
            <a:endParaRPr dirty="0">
              <a:latin typeface="Montserrat"/>
              <a:ea typeface="Montserrat"/>
              <a:cs typeface="Montserrat"/>
              <a:sym typeface="Montserrat"/>
            </a:endParaRPr>
          </a:p>
        </p:txBody>
      </p:sp>
      <p:pic>
        <p:nvPicPr>
          <p:cNvPr id="264" name="Google Shape;264;p19"/>
          <p:cNvPicPr preferRelativeResize="0"/>
          <p:nvPr/>
        </p:nvPicPr>
        <p:blipFill rotWithShape="1">
          <a:blip r:embed="rId3">
            <a:alphaModFix/>
          </a:blip>
          <a:srcRect/>
          <a:stretch/>
        </p:blipFill>
        <p:spPr>
          <a:xfrm>
            <a:off x="7956674" y="170575"/>
            <a:ext cx="902601" cy="885673"/>
          </a:xfrm>
          <a:prstGeom prst="rect">
            <a:avLst/>
          </a:prstGeom>
          <a:noFill/>
          <a:ln>
            <a:noFill/>
          </a:ln>
        </p:spPr>
      </p:pic>
      <p:sp>
        <p:nvSpPr>
          <p:cNvPr id="265" name="Google Shape;265;p19"/>
          <p:cNvSpPr/>
          <p:nvPr/>
        </p:nvSpPr>
        <p:spPr>
          <a:xfrm>
            <a:off x="457200" y="1248200"/>
            <a:ext cx="635100" cy="126900"/>
          </a:xfrm>
          <a:prstGeom prst="rect">
            <a:avLst/>
          </a:prstGeom>
          <a:solidFill>
            <a:srgbClr val="00AEEF"/>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Montserrat"/>
              <a:buNone/>
            </a:pPr>
            <a:endParaRPr sz="1200" b="0" i="0" u="none" strike="noStrike" cap="none">
              <a:solidFill>
                <a:srgbClr val="000000"/>
              </a:solidFill>
              <a:latin typeface="Montserrat"/>
              <a:ea typeface="Montserrat"/>
              <a:cs typeface="Montserrat"/>
              <a:sym typeface="Montserrat"/>
            </a:endParaRPr>
          </a:p>
        </p:txBody>
      </p:sp>
      <p:sp>
        <p:nvSpPr>
          <p:cNvPr id="266" name="Google Shape;266;p19"/>
          <p:cNvSpPr txBox="1"/>
          <p:nvPr/>
        </p:nvSpPr>
        <p:spPr>
          <a:xfrm>
            <a:off x="457200" y="1466843"/>
            <a:ext cx="7499400" cy="1708120"/>
          </a:xfrm>
          <a:prstGeom prst="rect">
            <a:avLst/>
          </a:prstGeom>
          <a:noFill/>
          <a:ln>
            <a:noFill/>
          </a:ln>
        </p:spPr>
        <p:txBody>
          <a:bodyPr spcFirstLastPara="1" wrap="square" lIns="91425" tIns="45700" rIns="91425" bIns="45700" anchor="t" anchorCtr="0">
            <a:spAutoFit/>
          </a:bodyPr>
          <a:lstStyle/>
          <a:p>
            <a:pPr marL="457200" lvl="0" indent="-349250" algn="l" rtl="0">
              <a:lnSpc>
                <a:spcPct val="150000"/>
              </a:lnSpc>
              <a:buClr>
                <a:srgbClr val="FFFFFF"/>
              </a:buClr>
              <a:buSzPct val="100000"/>
              <a:buFont typeface="Lato"/>
              <a:buChar char="●"/>
            </a:pPr>
            <a:r>
              <a:rPr lang="en" dirty="0">
                <a:latin typeface="Montserrat"/>
                <a:sym typeface="Lato"/>
              </a:rPr>
              <a:t>Dites-nous comment vous êtes l'équipe qui a l'expérience et l'expertise pour transformer votre opportunité en une grande entreprise rentable. Montrez que les membres de l'équipe sont spécialisés dans des tâches spécifiques, mesurées par rapport à des étapes/accomplissements. Rappelez-vous qu'une idée ne vaut rien sans son </a:t>
            </a:r>
            <a:r>
              <a:rPr lang="en" dirty="0">
                <a:latin typeface="Montserrat"/>
                <a:sym typeface="Lato"/>
                <a:hlinkClick r:id="rId4">
                  <a:extLst>
                    <a:ext uri="{A12FA001-AC4F-418D-AE19-62706E023703}">
                      <ahyp:hlinkClr xmlns:ahyp="http://schemas.microsoft.com/office/drawing/2018/hyperlinkcolor" val="tx"/>
                    </a:ext>
                  </a:extLst>
                </a:hlinkClick>
              </a:rPr>
              <a:t>exécution</a:t>
            </a:r>
            <a:endParaRPr lang="en" dirty="0">
              <a:latin typeface="Montserrat"/>
              <a:sym typeface="Lato"/>
            </a:endParaRPr>
          </a:p>
        </p:txBody>
      </p:sp>
    </p:spTree>
    <p:extLst>
      <p:ext uri="{BB962C8B-B14F-4D97-AF65-F5344CB8AC3E}">
        <p14:creationId xmlns:p14="http://schemas.microsoft.com/office/powerpoint/2010/main" val="65929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25"/>
          <p:cNvSpPr/>
          <p:nvPr/>
        </p:nvSpPr>
        <p:spPr>
          <a:xfrm>
            <a:off x="0" y="0"/>
            <a:ext cx="9144000" cy="5143500"/>
          </a:xfrm>
          <a:prstGeom prst="rect">
            <a:avLst/>
          </a:prstGeom>
          <a:solidFill>
            <a:srgbClr val="0F243E"/>
          </a:solidFill>
          <a:ln w="25400" cap="flat" cmpd="sng">
            <a:solidFill>
              <a:srgbClr val="00B0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pic>
        <p:nvPicPr>
          <p:cNvPr id="397" name="Google Shape;397;p25" descr="GU_Logo_wTagline_Grey.png"/>
          <p:cNvPicPr preferRelativeResize="0"/>
          <p:nvPr/>
        </p:nvPicPr>
        <p:blipFill rotWithShape="1">
          <a:blip r:embed="rId3">
            <a:alphaModFix/>
          </a:blip>
          <a:srcRect/>
          <a:stretch/>
        </p:blipFill>
        <p:spPr>
          <a:xfrm>
            <a:off x="3374153" y="1263125"/>
            <a:ext cx="2395694" cy="2617250"/>
          </a:xfrm>
          <a:prstGeom prst="rect">
            <a:avLst/>
          </a:prstGeom>
          <a:noFill/>
          <a:ln>
            <a:noFill/>
          </a:ln>
        </p:spPr>
      </p:pic>
      <p:sp>
        <p:nvSpPr>
          <p:cNvPr id="398" name="Google Shape;398;p25"/>
          <p:cNvSpPr txBox="1">
            <a:spLocks noGrp="1"/>
          </p:cNvSpPr>
          <p:nvPr>
            <p:ph type="sldNum" idx="12"/>
          </p:nvPr>
        </p:nvSpPr>
        <p:spPr>
          <a:xfrm>
            <a:off x="6553200" y="4626292"/>
            <a:ext cx="2133600" cy="282000"/>
          </a:xfrm>
          <a:prstGeom prst="rect">
            <a:avLst/>
          </a:prstGeom>
          <a:noFill/>
          <a:ln>
            <a:noFill/>
          </a:ln>
        </p:spPr>
        <p:txBody>
          <a:bodyPr spcFirstLastPara="1" wrap="square" lIns="45700" tIns="45700" rIns="45700" bIns="45700" anchor="ctr" anchorCtr="0">
            <a:noAutofit/>
          </a:bodyPr>
          <a:lstStyle/>
          <a:p>
            <a:pPr marL="0" lvl="0" indent="0" algn="l" rtl="0">
              <a:lnSpc>
                <a:spcPct val="100000"/>
              </a:lnSpc>
              <a:spcBef>
                <a:spcPts val="0"/>
              </a:spcBef>
              <a:spcAft>
                <a:spcPts val="0"/>
              </a:spcAft>
              <a:buClr>
                <a:srgbClr val="000000"/>
              </a:buClr>
              <a:buSzPts val="1200"/>
              <a:buFont typeface="Montserrat"/>
              <a:buNone/>
            </a:pPr>
            <a:fld id="{00000000-1234-1234-1234-123412341234}" type="slidenum">
              <a:rPr lang="en-US">
                <a:solidFill>
                  <a:schemeClr val="dk1"/>
                </a:solidFill>
              </a:rPr>
              <a:t>11</a:t>
            </a:fld>
            <a:endParaRPr>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ct:contentTypeSchema xmlns:ct="http://schemas.microsoft.com/office/2006/metadata/contentType" xmlns:ma="http://schemas.microsoft.com/office/2006/metadata/properties/metaAttributes" ct:_="" ma:_="" ma:contentTypeName="UNICEF Document" ma:contentTypeID="0x0101009BA85F8052A6DA4FA3E31FF9F74C6970003A1E23D275962A45BCC8E863ECA8BAB0" ma:contentTypeVersion="28" ma:contentTypeDescription="" ma:contentTypeScope="" ma:versionID="103970cfb67cfde5bc225141b74766b4">
  <xsd:schema xmlns:xsd="http://www.w3.org/2001/XMLSchema" xmlns:xs="http://www.w3.org/2001/XMLSchema" xmlns:p="http://schemas.microsoft.com/office/2006/metadata/properties" xmlns:ns1="http://schemas.microsoft.com/sharepoint/v3" xmlns:ns2="ca283e0b-db31-4043-a2ef-b80661bf084a" xmlns:ns3="http://schemas.microsoft.com/sharepoint.v3" xmlns:ns4="d43885cd-03a2-4694-adc6-0b19dbfb19c1" xmlns:ns5="6d25dfd8-6f0e-4c8d-87c2-af87a790119c" xmlns:ns6="http://schemas.microsoft.com/sharepoint/v4" targetNamespace="http://schemas.microsoft.com/office/2006/metadata/properties" ma:root="true" ma:fieldsID="85584a54ca3b6b395e36a70c6045c14c" ns1:_="" ns2:_="" ns3:_="" ns4:_="" ns5:_="" ns6:_="">
    <xsd:import namespace="http://schemas.microsoft.com/sharepoint/v3"/>
    <xsd:import namespace="ca283e0b-db31-4043-a2ef-b80661bf084a"/>
    <xsd:import namespace="http://schemas.microsoft.com/sharepoint.v3"/>
    <xsd:import namespace="d43885cd-03a2-4694-adc6-0b19dbfb19c1"/>
    <xsd:import namespace="6d25dfd8-6f0e-4c8d-87c2-af87a790119c"/>
    <xsd:import namespace="http://schemas.microsoft.com/sharepoint/v4"/>
    <xsd:element name="properties">
      <xsd:complexType>
        <xsd:sequence>
          <xsd:element name="documentManagement">
            <xsd:complexType>
              <xsd:all>
                <xsd:element ref="ns2:WrittenBy" minOccurs="0"/>
                <xsd:element ref="ns2:ContentLanguage" minOccurs="0"/>
                <xsd:element ref="ns3:CategoryDescription" minOccurs="0"/>
                <xsd:element ref="ns2:RecipientsEmail" minOccurs="0"/>
                <xsd:element ref="ns2:SenderEmail" minOccurs="0"/>
                <xsd:element ref="ns2:DateTransmittedEmail" minOccurs="0"/>
                <xsd:element ref="ns2:k8c968e8c72a4eda96b7e8fdbe192be2" minOccurs="0"/>
                <xsd:element ref="ns2:ga975397408f43e4b84ec8e5a598e523" minOccurs="0"/>
                <xsd:element ref="ns2:mda26ace941f4791a7314a339fee829c" minOccurs="0"/>
                <xsd:element ref="ns2:TaxCatchAllLabel" minOccurs="0"/>
                <xsd:element ref="ns2:TaxCatchAll" minOccurs="0"/>
                <xsd:element ref="ns2:h6a71f3e574e4344bc34f3fc9dd20054" minOccurs="0"/>
                <xsd:element ref="ns2:ContentStatus" minOccurs="0"/>
                <xsd:element ref="ns2:j169e817e0ee4eb8974e6fc4a2762909" minOccurs="0"/>
                <xsd:element ref="ns2:j048a4f9aaad4a8990a1d5e5f53cb451" minOccurs="0"/>
                <xsd:element ref="ns5:MediaServiceMetadata" minOccurs="0"/>
                <xsd:element ref="ns5:MediaServiceFastMetadata" minOccurs="0"/>
                <xsd:element ref="ns4:SharedWithUsers" minOccurs="0"/>
                <xsd:element ref="ns4:SharedWithDetails" minOccurs="0"/>
                <xsd:element ref="ns5:MediaServiceDateTaken" minOccurs="0"/>
                <xsd:element ref="ns5:MediaServiceAutoTags" minOccurs="0"/>
                <xsd:element ref="ns5:MediaServiceOCR" minOccurs="0"/>
                <xsd:element ref="ns5:MediaServiceAutoKeyPoints" minOccurs="0"/>
                <xsd:element ref="ns5:MediaServiceKeyPoints" minOccurs="0"/>
                <xsd:element ref="ns5:MediaServiceGenerationTime" minOccurs="0"/>
                <xsd:element ref="ns5:MediaServiceEventHashCode" minOccurs="0"/>
                <xsd:element ref="ns6:IconOverlay" minOccurs="0"/>
                <xsd:element ref="ns1:_vti_ItemDeclaredRecord" minOccurs="0"/>
                <xsd:element ref="ns1:_vti_ItemHoldRecordStatus" minOccurs="0"/>
                <xsd:element ref="ns4:TaxKeywordTaxHTField" minOccurs="0"/>
                <xsd:element ref="ns4:_dlc_DocId" minOccurs="0"/>
                <xsd:element ref="ns4:_dlc_DocIdUrl" minOccurs="0"/>
                <xsd:element ref="ns4:_dlc_DocIdPersistId" minOccurs="0"/>
                <xsd:element ref="ns4:SemaphoreItem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vti_ItemDeclaredRecord" ma:index="43" nillable="true" ma:displayName="Declared Record" ma:hidden="true" ma:internalName="_vti_ItemDeclaredRecord" ma:readOnly="true">
      <xsd:simpleType>
        <xsd:restriction base="dms:DateTime"/>
      </xsd:simpleType>
    </xsd:element>
    <xsd:element name="_vti_ItemHoldRecordStatus" ma:index="44" nillable="true" ma:displayName="Hold and Record Status" ma:decimals="0" ma:description="" ma:hidden="true" ma:indexed="true" ma:internalName="_vti_ItemHoldRecordStatu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a283e0b-db31-4043-a2ef-b80661bf084a" elementFormDefault="qualified">
    <xsd:import namespace="http://schemas.microsoft.com/office/2006/documentManagement/types"/>
    <xsd:import namespace="http://schemas.microsoft.com/office/infopath/2007/PartnerControls"/>
    <xsd:element name="WrittenBy" ma:index="3" nillable="true" ma:displayName="Written By" ma:description="‘Written By’ is auto-completed with the name of the uploader, but can be edited if you are uploading on behalf of someone else." ma:list="UserInfo" ma:SharePointGroup="0" ma:internalName="WrittenBy" ma:readOnly="fals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ntentLanguage" ma:index="4" nillable="true" ma:displayName="Content Language *" ma:default="English" ma:format="RadioButtons" ma:indexed="true" ma:internalName="ContentLanguage" ma:readOnly="false">
      <xsd:simpleType>
        <xsd:restriction base="dms:Choice">
          <xsd:enumeration value="English"/>
          <xsd:enumeration value="French"/>
          <xsd:enumeration value="Spanish"/>
          <xsd:enumeration value="Russian"/>
          <xsd:enumeration value="Chinese"/>
          <xsd:enumeration value="Arabic"/>
          <xsd:enumeration value="other"/>
        </xsd:restriction>
      </xsd:simpleType>
    </xsd:element>
    <xsd:element name="RecipientsEmail" ma:index="9" nillable="true" ma:displayName="Recipients (email)" ma:hidden="true" ma:internalName="RecipientsEmail" ma:readOnly="false">
      <xsd:simpleType>
        <xsd:restriction base="dms:Text">
          <xsd:maxLength value="255"/>
        </xsd:restriction>
      </xsd:simpleType>
    </xsd:element>
    <xsd:element name="SenderEmail" ma:index="10" nillable="true" ma:displayName="Sender (email)" ma:hidden="true" ma:internalName="SenderEmail" ma:readOnly="false">
      <xsd:simpleType>
        <xsd:restriction base="dms:Text">
          <xsd:maxLength value="255"/>
        </xsd:restriction>
      </xsd:simpleType>
    </xsd:element>
    <xsd:element name="DateTransmittedEmail" ma:index="11" nillable="true" ma:displayName="Date transmitted (email)" ma:format="DateTime" ma:hidden="true" ma:internalName="DateTransmittedEmail" ma:readOnly="false">
      <xsd:simpleType>
        <xsd:restriction base="dms:DateTime"/>
      </xsd:simpleType>
    </xsd:element>
    <xsd:element name="k8c968e8c72a4eda96b7e8fdbe192be2" ma:index="12" nillable="true" ma:taxonomy="true" ma:internalName="k8c968e8c72a4eda96b7e8fdbe192be2" ma:taxonomyFieldName="GeographicScope" ma:displayName="Geographic Scope" ma:default="" ma:fieldId="{48c968e8-c72a-4eda-96b7-e8fdbe192be2}" ma:taxonomyMulti="true" ma:sspId="73f51738-d318-4883-9d64-4f0bd0ccc55e" ma:termSetId="0a00fedf-defc-4fe3-a3bf-9929b29a638e" ma:anchorId="00000000-0000-0000-0000-000000000000" ma:open="false" ma:isKeyword="false">
      <xsd:complexType>
        <xsd:sequence>
          <xsd:element ref="pc:Terms" minOccurs="0" maxOccurs="1"/>
        </xsd:sequence>
      </xsd:complexType>
    </xsd:element>
    <xsd:element name="ga975397408f43e4b84ec8e5a598e523" ma:index="16" nillable="true" ma:taxonomy="true" ma:internalName="ga975397408f43e4b84ec8e5a598e523" ma:taxonomyFieldName="OfficeDivision" ma:displayName="Office/Division *" ma:default="226;#Office of Global Innovation-240B|a38e29fd-ea29-4c98-a7c2-ed22641cac42" ma:fieldId="{0a975397-408f-43e4-b84e-c8e5a598e523}" ma:sspId="73f51738-d318-4883-9d64-4f0bd0ccc55e" ma:termSetId="1761a25e-44f4-4213-964a-f96c515e12cb" ma:anchorId="00000000-0000-0000-0000-000000000000" ma:open="false" ma:isKeyword="false">
      <xsd:complexType>
        <xsd:sequence>
          <xsd:element ref="pc:Terms" minOccurs="0" maxOccurs="1"/>
        </xsd:sequence>
      </xsd:complexType>
    </xsd:element>
    <xsd:element name="mda26ace941f4791a7314a339fee829c" ma:index="17" nillable="true" ma:taxonomy="true" ma:internalName="mda26ace941f4791a7314a339fee829c" ma:taxonomyFieldName="DocumentType" ma:displayName="Document Type *" ma:indexed="true" ma:readOnly="false" ma:default="" ma:fieldId="{6da26ace-941f-4791-a731-4a339fee829c}" ma:sspId="73f51738-d318-4883-9d64-4f0bd0ccc55e" ma:termSetId="f93b6877-8902-4378-8587-5ec85f36ead9" ma:anchorId="00000000-0000-0000-0000-000000000000" ma:open="false" ma:isKeyword="false">
      <xsd:complexType>
        <xsd:sequence>
          <xsd:element ref="pc:Terms" minOccurs="0" maxOccurs="1"/>
        </xsd:sequence>
      </xsd:complexType>
    </xsd:element>
    <xsd:element name="TaxCatchAllLabel" ma:index="18" nillable="true" ma:displayName="Taxonomy Catch All Column1" ma:hidden="true" ma:list="{cfd83388-0d74-40d3-8f8b-8bf3ded81463}" ma:internalName="TaxCatchAllLabel" ma:readOnly="true" ma:showField="CatchAllDataLabel" ma:web="d43885cd-03a2-4694-adc6-0b19dbfb19c1">
      <xsd:complexType>
        <xsd:complexContent>
          <xsd:extension base="dms:MultiChoiceLookup">
            <xsd:sequence>
              <xsd:element name="Value" type="dms:Lookup" maxOccurs="unbounded" minOccurs="0" nillable="true"/>
            </xsd:sequence>
          </xsd:extension>
        </xsd:complexContent>
      </xsd:complexType>
    </xsd:element>
    <xsd:element name="TaxCatchAll" ma:index="22" nillable="true" ma:displayName="Taxonomy Catch All Column" ma:hidden="true" ma:list="{cfd83388-0d74-40d3-8f8b-8bf3ded81463}" ma:internalName="TaxCatchAll" ma:showField="CatchAllData" ma:web="d43885cd-03a2-4694-adc6-0b19dbfb19c1">
      <xsd:complexType>
        <xsd:complexContent>
          <xsd:extension base="dms:MultiChoiceLookup">
            <xsd:sequence>
              <xsd:element name="Value" type="dms:Lookup" maxOccurs="unbounded" minOccurs="0" nillable="true"/>
            </xsd:sequence>
          </xsd:extension>
        </xsd:complexContent>
      </xsd:complexType>
    </xsd:element>
    <xsd:element name="h6a71f3e574e4344bc34f3fc9dd20054" ma:index="23" nillable="true" ma:taxonomy="true" ma:internalName="h6a71f3e574e4344bc34f3fc9dd20054" ma:taxonomyFieldName="Topic" ma:displayName="Topic *" ma:readOnly="false" ma:default="" ma:fieldId="{16a71f3e-574e-4344-bc34-f3fc9dd20054}" ma:taxonomyMulti="true" ma:sspId="73f51738-d318-4883-9d64-4f0bd0ccc55e" ma:termSetId="9561e0e6-71cf-4f3c-87c3-08a6b5d907e8" ma:anchorId="00000000-0000-0000-0000-000000000000" ma:open="false" ma:isKeyword="false">
      <xsd:complexType>
        <xsd:sequence>
          <xsd:element ref="pc:Terms" minOccurs="0" maxOccurs="1"/>
        </xsd:sequence>
      </xsd:complexType>
    </xsd:element>
    <xsd:element name="ContentStatus" ma:index="25" nillable="true" ma:displayName="Content Status" ma:description="Optional column to indicate document status: no status, draft, final or expired.​" ma:format="RadioButtons" ma:internalName="ContentStatus">
      <xsd:simpleType>
        <xsd:restriction base="dms:Choice">
          <xsd:enumeration value="­"/>
          <xsd:enumeration value="Draft"/>
          <xsd:enumeration value="Final"/>
          <xsd:enumeration value="Expired"/>
        </xsd:restriction>
      </xsd:simpleType>
    </xsd:element>
    <xsd:element name="j169e817e0ee4eb8974e6fc4a2762909" ma:index="26" nillable="true" ma:taxonomy="true" ma:internalName="j169e817e0ee4eb8974e6fc4a2762909" ma:taxonomyFieldName="CriticalForLongTermRetention" ma:displayName="Critical for long-term retention?" ma:default="" ma:fieldId="{3169e817-e0ee-4eb8-974e-6fc4a2762909}" ma:sspId="73f51738-d318-4883-9d64-4f0bd0ccc55e" ma:termSetId="59f85175-3dbf-4592-9c1d-453af9da4e8b" ma:anchorId="00000000-0000-0000-0000-000000000000" ma:open="false" ma:isKeyword="false">
      <xsd:complexType>
        <xsd:sequence>
          <xsd:element ref="pc:Terms" minOccurs="0" maxOccurs="1"/>
        </xsd:sequence>
      </xsd:complexType>
    </xsd:element>
    <xsd:element name="j048a4f9aaad4a8990a1d5e5f53cb451" ma:index="28" nillable="true" ma:taxonomy="true" ma:internalName="j048a4f9aaad4a8990a1d5e5f53cb451" ma:taxonomyFieldName="SystemDTAC" ma:displayName="System-DT-AC" ma:default="" ma:fieldId="{3048a4f9-aaad-4a89-90a1-d5e5f53cb451}" ma:sspId="73f51738-d318-4883-9d64-4f0bd0ccc55e" ma:termSetId="1e3381f3-a35f-499a-9a3c-017e5423e02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CategoryDescription" ma:index="6" nillable="true" ma:displayName="Description" ma:internalName="CategoryDescription">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43885cd-03a2-4694-adc6-0b19dbfb19c1" elementFormDefault="qualified">
    <xsd:import namespace="http://schemas.microsoft.com/office/2006/documentManagement/types"/>
    <xsd:import namespace="http://schemas.microsoft.com/office/infopath/2007/PartnerControls"/>
    <xsd:element name="SharedWithUsers" ma:index="3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4" nillable="true" ma:displayName="Shared With Details" ma:internalName="SharedWithDetails" ma:readOnly="true">
      <xsd:simpleType>
        <xsd:restriction base="dms:Note">
          <xsd:maxLength value="255"/>
        </xsd:restriction>
      </xsd:simpleType>
    </xsd:element>
    <xsd:element name="TaxKeywordTaxHTField" ma:index="45" nillable="true" ma:taxonomy="true" ma:internalName="TaxKeywordTaxHTField" ma:taxonomyFieldName="TaxKeyword" ma:displayName="Enterprise Keywords" ma:fieldId="{23f27201-bee3-471e-b2e7-b64fd8b7ca38}" ma:taxonomyMulti="true" ma:sspId="73f51738-d318-4883-9d64-4f0bd0ccc55e" ma:termSetId="00000000-0000-0000-0000-000000000000" ma:anchorId="00000000-0000-0000-0000-000000000000" ma:open="true" ma:isKeyword="true">
      <xsd:complexType>
        <xsd:sequence>
          <xsd:element ref="pc:Terms" minOccurs="0" maxOccurs="1"/>
        </xsd:sequence>
      </xsd:complexType>
    </xsd:element>
    <xsd:element name="_dlc_DocId" ma:index="46" nillable="true" ma:displayName="Document ID Value" ma:description="The value of the document ID assigned to this item." ma:internalName="_dlc_DocId" ma:readOnly="true">
      <xsd:simpleType>
        <xsd:restriction base="dms:Text"/>
      </xsd:simpleType>
    </xsd:element>
    <xsd:element name="_dlc_DocIdUrl" ma:index="47"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48" nillable="true" ma:displayName="Persist ID" ma:description="Keep ID on add." ma:hidden="true" ma:internalName="_dlc_DocIdPersistId" ma:readOnly="true">
      <xsd:simpleType>
        <xsd:restriction base="dms:Boolean"/>
      </xsd:simpleType>
    </xsd:element>
    <xsd:element name="SemaphoreItemMetadata" ma:index="49" nillable="true" ma:displayName="Semaphore Status" ma:hidden="true" ma:internalName="SemaphoreItemMetadata">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25dfd8-6f0e-4c8d-87c2-af87a790119c" elementFormDefault="qualified">
    <xsd:import namespace="http://schemas.microsoft.com/office/2006/documentManagement/types"/>
    <xsd:import namespace="http://schemas.microsoft.com/office/infopath/2007/PartnerControls"/>
    <xsd:element name="MediaServiceMetadata" ma:index="31" nillable="true" ma:displayName="MediaServiceMetadata" ma:hidden="true" ma:internalName="MediaServiceMetadata" ma:readOnly="true">
      <xsd:simpleType>
        <xsd:restriction base="dms:Note"/>
      </xsd:simpleType>
    </xsd:element>
    <xsd:element name="MediaServiceFastMetadata" ma:index="32" nillable="true" ma:displayName="MediaServiceFastMetadata" ma:hidden="true" ma:internalName="MediaServiceFastMetadata" ma:readOnly="true">
      <xsd:simpleType>
        <xsd:restriction base="dms:Note"/>
      </xsd:simpleType>
    </xsd:element>
    <xsd:element name="MediaServiceDateTaken" ma:index="35" nillable="true" ma:displayName="MediaServiceDateTaken" ma:hidden="true" ma:internalName="MediaServiceDateTaken" ma:readOnly="true">
      <xsd:simpleType>
        <xsd:restriction base="dms:Text"/>
      </xsd:simpleType>
    </xsd:element>
    <xsd:element name="MediaServiceAutoTags" ma:index="36" nillable="true" ma:displayName="Tags" ma:internalName="MediaServiceAutoTags" ma:readOnly="true">
      <xsd:simpleType>
        <xsd:restriction base="dms:Text"/>
      </xsd:simpleType>
    </xsd:element>
    <xsd:element name="MediaServiceOCR" ma:index="37" nillable="true" ma:displayName="Extracted Text" ma:internalName="MediaServiceOCR" ma:readOnly="true">
      <xsd:simpleType>
        <xsd:restriction base="dms:Note">
          <xsd:maxLength value="255"/>
        </xsd:restriction>
      </xsd:simpleType>
    </xsd:element>
    <xsd:element name="MediaServiceAutoKeyPoints" ma:index="38" nillable="true" ma:displayName="MediaServiceAutoKeyPoints" ma:hidden="true" ma:internalName="MediaServiceAutoKeyPoints" ma:readOnly="true">
      <xsd:simpleType>
        <xsd:restriction base="dms:Note"/>
      </xsd:simpleType>
    </xsd:element>
    <xsd:element name="MediaServiceKeyPoints" ma:index="39" nillable="true" ma:displayName="KeyPoints" ma:internalName="MediaServiceKeyPoints" ma:readOnly="true">
      <xsd:simpleType>
        <xsd:restriction base="dms:Note">
          <xsd:maxLength value="255"/>
        </xsd:restriction>
      </xsd:simpleType>
    </xsd:element>
    <xsd:element name="MediaServiceGenerationTime" ma:index="40" nillable="true" ma:displayName="MediaServiceGenerationTime" ma:hidden="true" ma:internalName="MediaServiceGenerationTime" ma:readOnly="true">
      <xsd:simpleType>
        <xsd:restriction base="dms:Text"/>
      </xsd:simpleType>
    </xsd:element>
    <xsd:element name="MediaServiceEventHashCode" ma:index="4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42"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customXsn xmlns="http://schemas.microsoft.com/office/2006/metadata/customXsn">
  <xsnLocation/>
  <cached>True</cached>
  <openByDefault>True</openByDefault>
  <xsnScope/>
</customXsn>
</file>

<file path=customXml/item4.xml><?xml version="1.0" encoding="utf-8"?>
<?mso-contentType ?>
<SharedContentType xmlns="Microsoft.SharePoint.Taxonomy.ContentTypeSync" SourceId="73f51738-d318-4883-9d64-4f0bd0ccc55e" ContentTypeId="0x0101009BA85F8052A6DA4FA3E31FF9F74C6970" PreviousValue="false"/>
</file>

<file path=customXml/item5.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6.xml><?xml version="1.0" encoding="utf-8"?>
<p:properties xmlns:p="http://schemas.microsoft.com/office/2006/metadata/properties" xmlns:xsi="http://www.w3.org/2001/XMLSchema-instance" xmlns:pc="http://schemas.microsoft.com/office/infopath/2007/PartnerControls">
  <documentManagement>
    <ga975397408f43e4b84ec8e5a598e523 xmlns="ca283e0b-db31-4043-a2ef-b80661bf084a">
      <Terms xmlns="http://schemas.microsoft.com/office/infopath/2007/PartnerControls">
        <TermInfo xmlns="http://schemas.microsoft.com/office/infopath/2007/PartnerControls">
          <TermName xmlns="http://schemas.microsoft.com/office/infopath/2007/PartnerControls">Office of Global Innovation-240B</TermName>
          <TermId xmlns="http://schemas.microsoft.com/office/infopath/2007/PartnerControls">a38e29fd-ea29-4c98-a7c2-ed22641cac42</TermId>
        </TermInfo>
      </Terms>
    </ga975397408f43e4b84ec8e5a598e523>
    <_dlc_DocId xmlns="d43885cd-03a2-4694-adc6-0b19dbfb19c1">AAD5WP6CNVVT-2113349504-261</_dlc_DocId>
    <TaxCatchAll xmlns="ca283e0b-db31-4043-a2ef-b80661bf084a">
      <Value>3</Value>
    </TaxCatchAll>
    <_dlc_DocIdUrl xmlns="d43885cd-03a2-4694-adc6-0b19dbfb19c1">
      <Url>https://unicef.sharepoint.com/teams/OOI-GenUYouth/_layouts/15/DocIdRedir.aspx?ID=AAD5WP6CNVVT-2113349504-261</Url>
      <Description>AAD5WP6CNVVT-2113349504-261</Description>
    </_dlc_DocIdUrl>
    <ContentLanguage xmlns="ca283e0b-db31-4043-a2ef-b80661bf084a">English</ContentLanguage>
    <k8c968e8c72a4eda96b7e8fdbe192be2 xmlns="ca283e0b-db31-4043-a2ef-b80661bf084a">
      <Terms xmlns="http://schemas.microsoft.com/office/infopath/2007/PartnerControls"/>
    </k8c968e8c72a4eda96b7e8fdbe192be2>
    <DateTransmittedEmail xmlns="ca283e0b-db31-4043-a2ef-b80661bf084a" xsi:nil="true"/>
    <ContentStatus xmlns="ca283e0b-db31-4043-a2ef-b80661bf084a" xsi:nil="true"/>
    <SenderEmail xmlns="ca283e0b-db31-4043-a2ef-b80661bf084a" xsi:nil="true"/>
    <IconOverlay xmlns="http://schemas.microsoft.com/sharepoint/v4" xsi:nil="true"/>
    <h6a71f3e574e4344bc34f3fc9dd20054 xmlns="ca283e0b-db31-4043-a2ef-b80661bf084a">
      <Terms xmlns="http://schemas.microsoft.com/office/infopath/2007/PartnerControls"/>
    </h6a71f3e574e4344bc34f3fc9dd20054>
    <TaxKeywordTaxHTField xmlns="d43885cd-03a2-4694-adc6-0b19dbfb19c1">
      <Terms xmlns="http://schemas.microsoft.com/office/infopath/2007/PartnerControls"/>
    </TaxKeywordTaxHTField>
    <CategoryDescription xmlns="http://schemas.microsoft.com/sharepoint.v3" xsi:nil="true"/>
    <mda26ace941f4791a7314a339fee829c xmlns="ca283e0b-db31-4043-a2ef-b80661bf084a">
      <Terms xmlns="http://schemas.microsoft.com/office/infopath/2007/PartnerControls"/>
    </mda26ace941f4791a7314a339fee829c>
    <RecipientsEmail xmlns="ca283e0b-db31-4043-a2ef-b80661bf084a" xsi:nil="true"/>
    <WrittenBy xmlns="ca283e0b-db31-4043-a2ef-b80661bf084a">
      <UserInfo>
        <DisplayName/>
        <AccountId xsi:nil="true"/>
        <AccountType/>
      </UserInfo>
    </WrittenBy>
    <SharedWithUsers xmlns="d43885cd-03a2-4694-adc6-0b19dbfb19c1">
      <UserInfo>
        <DisplayName/>
        <AccountId xsi:nil="true"/>
        <AccountType/>
      </UserInfo>
    </SharedWithUsers>
    <j169e817e0ee4eb8974e6fc4a2762909 xmlns="ca283e0b-db31-4043-a2ef-b80661bf084a">
      <Terms xmlns="http://schemas.microsoft.com/office/infopath/2007/PartnerControls"/>
    </j169e817e0ee4eb8974e6fc4a2762909>
    <j048a4f9aaad4a8990a1d5e5f53cb451 xmlns="ca283e0b-db31-4043-a2ef-b80661bf084a">
      <Terms xmlns="http://schemas.microsoft.com/office/infopath/2007/PartnerControls"/>
    </j048a4f9aaad4a8990a1d5e5f53cb451>
    <SemaphoreItemMetadata xmlns="d43885cd-03a2-4694-adc6-0b19dbfb19c1" xsi:nil="true"/>
  </documentManagement>
</p:properties>
</file>

<file path=customXml/itemProps1.xml><?xml version="1.0" encoding="utf-8"?>
<ds:datastoreItem xmlns:ds="http://schemas.openxmlformats.org/officeDocument/2006/customXml" ds:itemID="{002990C3-FC3D-45D0-90C4-05ED5B5DD3C1}">
  <ds:schemaRefs>
    <ds:schemaRef ds:uri="6d25dfd8-6f0e-4c8d-87c2-af87a790119c"/>
    <ds:schemaRef ds:uri="ca283e0b-db31-4043-a2ef-b80661bf084a"/>
    <ds:schemaRef ds:uri="d43885cd-03a2-4694-adc6-0b19dbfb19c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3"/>
    <ds:schemaRef ds:uri="http://schemas.microsoft.com/sharepoint/v4"/>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8F3908A-7E4B-4405-87AD-D29EFF466C2D}">
  <ds:schemaRefs>
    <ds:schemaRef ds:uri="http://schemas.microsoft.com/sharepoint/v3/contenttype/forms"/>
  </ds:schemaRefs>
</ds:datastoreItem>
</file>

<file path=customXml/itemProps3.xml><?xml version="1.0" encoding="utf-8"?>
<ds:datastoreItem xmlns:ds="http://schemas.openxmlformats.org/officeDocument/2006/customXml" ds:itemID="{EFD0F8B2-EFBF-4F1C-9705-D83F9146A565}">
  <ds:schemaRefs>
    <ds:schemaRef ds:uri="http://schemas.microsoft.com/office/2006/metadata/customXsn"/>
  </ds:schemaRefs>
</ds:datastoreItem>
</file>

<file path=customXml/itemProps4.xml><?xml version="1.0" encoding="utf-8"?>
<ds:datastoreItem xmlns:ds="http://schemas.openxmlformats.org/officeDocument/2006/customXml" ds:itemID="{72930207-B1C5-409A-8E68-8F7B1EA6A0B2}">
  <ds:schemaRefs>
    <ds:schemaRef ds:uri="Microsoft.SharePoint.Taxonomy.ContentTypeSync"/>
  </ds:schemaRefs>
</ds:datastoreItem>
</file>

<file path=customXml/itemProps5.xml><?xml version="1.0" encoding="utf-8"?>
<ds:datastoreItem xmlns:ds="http://schemas.openxmlformats.org/officeDocument/2006/customXml" ds:itemID="{E6C13AF1-7A4F-4CEB-861A-31F35B5232A5}">
  <ds:schemaRefs>
    <ds:schemaRef ds:uri="http://schemas.microsoft.com/sharepoint/events"/>
  </ds:schemaRefs>
</ds:datastoreItem>
</file>

<file path=customXml/itemProps6.xml><?xml version="1.0" encoding="utf-8"?>
<ds:datastoreItem xmlns:ds="http://schemas.openxmlformats.org/officeDocument/2006/customXml" ds:itemID="{64687DA7-5F3E-4398-A388-1278B21EA169}">
  <ds:schemaRefs>
    <ds:schemaRef ds:uri="http://schemas.microsoft.com/office/2006/documentManagement/types"/>
    <ds:schemaRef ds:uri="ca283e0b-db31-4043-a2ef-b80661bf084a"/>
    <ds:schemaRef ds:uri="http://schemas.microsoft.com/office/infopath/2007/PartnerControls"/>
    <ds:schemaRef ds:uri="http://schemas.microsoft.com/office/2006/metadata/properties"/>
    <ds:schemaRef ds:uri="http://purl.org/dc/terms/"/>
    <ds:schemaRef ds:uri="http://schemas.openxmlformats.org/package/2006/metadata/core-properties"/>
    <ds:schemaRef ds:uri="http://purl.org/dc/elements/1.1/"/>
    <ds:schemaRef ds:uri="http://schemas.microsoft.com/sharepoint/v4"/>
    <ds:schemaRef ds:uri="6d25dfd8-6f0e-4c8d-87c2-af87a790119c"/>
    <ds:schemaRef ds:uri="http://www.w3.org/XML/1998/namespace"/>
    <ds:schemaRef ds:uri="d43885cd-03a2-4694-adc6-0b19dbfb19c1"/>
    <ds:schemaRef ds:uri="http://schemas.microsoft.com/sharepoint.v3"/>
    <ds:schemaRef ds:uri="http://schemas.microsoft.com/sharepoint/v3"/>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522</TotalTime>
  <Words>503</Words>
  <Application>Microsoft Office PowerPoint</Application>
  <PresentationFormat>On-screen Show (16:9)</PresentationFormat>
  <Paragraphs>35</Paragraphs>
  <Slides>11</Slides>
  <Notes>11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Montserrat</vt:lpstr>
      <vt:lpstr>Arial</vt:lpstr>
      <vt:lpstr>Montserrat Black</vt:lpstr>
      <vt:lpstr>Lato</vt:lpstr>
      <vt:lpstr>Calibri</vt:lpstr>
      <vt:lpstr>Montserrat Light</vt:lpstr>
      <vt:lpstr>Simple Light</vt:lpstr>
      <vt:lpstr>Office Theme</vt:lpstr>
      <vt:lpstr>Presentation de l’équipe</vt:lpstr>
      <vt:lpstr>PROBLÈME</vt:lpstr>
      <vt:lpstr>SOLUTIONS &amp; MVP</vt:lpstr>
      <vt:lpstr>Cible/beneficiaires</vt:lpstr>
      <vt:lpstr>CONCURENCE </vt:lpstr>
      <vt:lpstr>STRATÉGIE DU MARCHÉ </vt:lpstr>
      <vt:lpstr>MODÈLE ÉCONOMIQUE/IMPACT SOCIAL</vt:lpstr>
      <vt:lpstr>Principales étapes</vt:lpstr>
      <vt:lpstr>PLAN DE TRAVAIL ET PROCHAINES ÉTAPES</vt:lpstr>
      <vt:lpstr>ÉQUIPE, ROLES ET OBJECTIFS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Youth Challenge 2018/2019</dc:title>
  <dc:creator>Katherine Crisp</dc:creator>
  <cp:lastModifiedBy>Jean Junior Niyonkuru</cp:lastModifiedBy>
  <cp:revision>6</cp:revision>
  <cp:lastPrinted>2021-07-09T08:57:02Z</cp:lastPrinted>
  <dcterms:modified xsi:type="dcterms:W3CDTF">2021-09-17T11:56:58Z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0x0101009BA85F8052A6DA4FA3E31FF9F74C6970003A1E23D275962A45BCC8E863ECA8BAB0</vt:lpwstr>
  </property>
  <property fmtid="{D5CDD505-2E9C-101B-9397-08002B2CF9AE}" pid="3" name="OfficeDivision">
    <vt:lpwstr>3;#Office of Global Innovation-240B|a38e29fd-ea29-4c98-a7c2-ed22641cac42</vt:lpwstr>
  </property>
  <property fmtid="{D5CDD505-2E9C-101B-9397-08002B2CF9AE}" pid="4" name="_dlc_DocIdItemGuid">
    <vt:lpwstr>1d5d81a3-9eb5-4eea-b726-c359e87c749f</vt:lpwstr>
  </property>
  <property fmtid="{D5CDD505-2E9C-101B-9397-08002B2CF9AE}" pid="5" name="TaxKeyword">
    <vt:lpwstr/>
  </property>
  <property fmtid="{D5CDD505-2E9C-101B-9397-08002B2CF9AE}" pid="6" name="Topic">
    <vt:lpwstr/>
  </property>
  <property fmtid="{D5CDD505-2E9C-101B-9397-08002B2CF9AE}" pid="7" name="DocumentType">
    <vt:lpwstr/>
  </property>
  <property fmtid="{D5CDD505-2E9C-101B-9397-08002B2CF9AE}" pid="8" name="GeographicScope">
    <vt:lpwstr/>
  </property>
  <property fmtid="{D5CDD505-2E9C-101B-9397-08002B2CF9AE}" pid="9" name="Order">
    <vt:r8>18000</vt:r8>
  </property>
  <property fmtid="{D5CDD505-2E9C-101B-9397-08002B2CF9AE}" pid="10" name="ComplianceAssetId">
    <vt:lpwstr/>
  </property>
</Properties>
</file>